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246120"/>
            <a:ext cx="12188952" cy="6400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908792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600" b="1" i="0">
                <a:solidFill>
                  <a:srgbClr val="00B4D8"/>
                </a:solidFill>
              </a:rPr>
              <a:t>NLPRec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508760"/>
            <a:ext cx="10908792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0">
                <a:solidFill>
                  <a:srgbClr val="FFFFFF"/>
                </a:solidFill>
              </a:rPr>
              <a:t>AI-Powered Course Recommendation System
Using Natural Language Processing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697480"/>
            <a:ext cx="1090879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1">
                <a:solidFill>
                  <a:srgbClr val="90E0EF"/>
                </a:solidFill>
              </a:rPr>
              <a:t>Architecture  ·  Personalization  ·  Evaluation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520440"/>
            <a:ext cx="1090879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D0D8E8"/>
                </a:solidFill>
              </a:rPr>
              <a:t>Department of Computer Science and Engineering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913632"/>
            <a:ext cx="1090879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D0D8E8"/>
                </a:solidFill>
              </a:rPr>
              <a:t>First Author · Second Author · Third Author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309360"/>
            <a:ext cx="1090879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90E0EF"/>
                </a:solidFill>
              </a:rPr>
              <a:t>March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1078992"/>
            <a:ext cx="11274552" cy="5029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11274552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0B4D8"/>
                </a:solidFill>
              </a:rPr>
              <a:t>Abstract — At a Glance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80160"/>
            <a:ext cx="11274552" cy="5120640"/>
          </a:xfrm>
          <a:prstGeom prst="rect">
            <a:avLst/>
          </a:prstGeom>
          <a:solidFill>
            <a:srgbClr val="142A5A"/>
          </a:solidFill>
          <a:ln>
            <a:solidFill>
              <a:srgbClr val="142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417320"/>
            <a:ext cx="10817352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MOOCs are exploding — 7,000+ courses on Coursera alone. Finding the right course from a natural-language query like 'I want to learn AI but I am bad at math and a total beginner' is beyond keyword search.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2606040"/>
            <a:ext cx="2194560" cy="1371600"/>
          </a:xfrm>
          <a:prstGeom prst="rect">
            <a:avLst/>
          </a:prstGeom>
          <a:solidFill>
            <a:srgbClr val="0D1B3E"/>
          </a:solidFill>
          <a:ln>
            <a:solidFill>
              <a:srgbClr val="0D1B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2743200"/>
            <a:ext cx="21945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00B4D8"/>
                </a:solidFill>
              </a:rPr>
              <a:t>0.72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3401568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D0D8E8"/>
                </a:solidFill>
              </a:rPr>
              <a:t>Precision@5</a:t>
            </a:r>
          </a:p>
        </p:txBody>
      </p:sp>
      <p:sp>
        <p:nvSpPr>
          <p:cNvPr id="9" name="Rectangle 8"/>
          <p:cNvSpPr/>
          <p:nvPr/>
        </p:nvSpPr>
        <p:spPr>
          <a:xfrm>
            <a:off x="3154680" y="2606040"/>
            <a:ext cx="2194560" cy="1371600"/>
          </a:xfrm>
          <a:prstGeom prst="rect">
            <a:avLst/>
          </a:prstGeom>
          <a:solidFill>
            <a:srgbClr val="0D1B3E"/>
          </a:solidFill>
          <a:ln>
            <a:solidFill>
              <a:srgbClr val="0D1B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154680" y="2743200"/>
            <a:ext cx="21945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06D6A0"/>
                </a:solidFill>
              </a:rPr>
              <a:t>0.98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154680" y="3401568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D0D8E8"/>
                </a:solidFill>
              </a:rPr>
              <a:t>Recall@5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623560" y="2606040"/>
            <a:ext cx="2194560" cy="1371600"/>
          </a:xfrm>
          <a:prstGeom prst="rect">
            <a:avLst/>
          </a:prstGeom>
          <a:solidFill>
            <a:srgbClr val="0D1B3E"/>
          </a:solidFill>
          <a:ln>
            <a:solidFill>
              <a:srgbClr val="0D1B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623560" y="2743200"/>
            <a:ext cx="21945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FFD166"/>
                </a:solidFill>
              </a:rPr>
              <a:t>0.82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23560" y="3401568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D0D8E8"/>
                </a:solidFill>
              </a:rPr>
              <a:t>F1@5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092440" y="2606040"/>
            <a:ext cx="2194560" cy="1371600"/>
          </a:xfrm>
          <a:prstGeom prst="rect">
            <a:avLst/>
          </a:prstGeom>
          <a:solidFill>
            <a:srgbClr val="0D1B3E"/>
          </a:solidFill>
          <a:ln>
            <a:solidFill>
              <a:srgbClr val="0D1B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092440" y="2743200"/>
            <a:ext cx="21945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FF696D"/>
                </a:solidFill>
              </a:rPr>
              <a:t>+71%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92440" y="3401568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D0D8E8"/>
                </a:solidFill>
              </a:rPr>
              <a:t>Avg Δ vs KW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" y="4160520"/>
            <a:ext cx="10817352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300">
                <a:solidFill>
                  <a:srgbClr val="D0D8E8"/>
                </a:solidFill>
              </a:rPr>
              <a:t>▸ Seven-stage NLP preprocessing pipeline with negation preservation</a:t>
            </a:r>
          </a:p>
          <a:p>
            <a:pPr>
              <a:spcBef>
                <a:spcPts val="300"/>
              </a:spcBef>
            </a:pPr>
            <a:r>
              <a:rPr sz="1300">
                <a:solidFill>
                  <a:srgbClr val="D0D8E8"/>
                </a:solidFill>
              </a:rPr>
              <a:t>▸ Sublinear TF-IDF with bigram features (5K vocabulary)</a:t>
            </a:r>
          </a:p>
          <a:p>
            <a:pPr>
              <a:spcBef>
                <a:spcPts val="300"/>
              </a:spcBef>
            </a:pPr>
            <a:r>
              <a:rPr sz="1300">
                <a:solidFill>
                  <a:srgbClr val="D0D8E8"/>
                </a:solidFill>
              </a:rPr>
              <a:t>▸ Nine-step query understanding engine — abbrev expansion, spell correction, difficulty extraction</a:t>
            </a:r>
          </a:p>
          <a:p>
            <a:pPr>
              <a:spcBef>
                <a:spcPts val="300"/>
              </a:spcBef>
            </a:pPr>
            <a:r>
              <a:rPr sz="1300">
                <a:solidFill>
                  <a:srgbClr val="D0D8E8"/>
                </a:solidFill>
              </a:rPr>
              <a:t>▸ Adaptive per-user profiling with recency-weighted topic modelling</a:t>
            </a:r>
          </a:p>
          <a:p>
            <a:pPr>
              <a:spcBef>
                <a:spcPts val="300"/>
              </a:spcBef>
            </a:pPr>
            <a:r>
              <a:rPr sz="1300">
                <a:solidFill>
                  <a:srgbClr val="D0D8E8"/>
                </a:solidFill>
              </a:rPr>
              <a:t>▸ Live DuckDuckGo search with 24-hour caching &amp; on-the-fly re-ranking</a:t>
            </a:r>
          </a:p>
          <a:p>
            <a:pPr>
              <a:spcBef>
                <a:spcPts val="300"/>
              </a:spcBef>
            </a:pPr>
            <a:r>
              <a:rPr sz="1300">
                <a:solidFill>
                  <a:srgbClr val="D0D8E8"/>
                </a:solidFill>
              </a:rPr>
              <a:t>▸ Open-source Streamlit web application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1078992"/>
            <a:ext cx="11274552" cy="5029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11274552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0B4D8"/>
                </a:solidFill>
              </a:rPr>
              <a:t>Problem Statement &amp; Motivation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112745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90E0EF"/>
                </a:solidFill>
              </a:rPr>
              <a:t>Why keyword search fails for course discovery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325880"/>
            <a:ext cx="5394960" cy="5120640"/>
          </a:xfrm>
          <a:prstGeom prst="rect">
            <a:avLst/>
          </a:prstGeom>
          <a:solidFill>
            <a:srgbClr val="142A5A"/>
          </a:solidFill>
          <a:ln>
            <a:solidFill>
              <a:srgbClr val="142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41732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D166"/>
                </a:solidFill>
              </a:rPr>
              <a:t>📈 The Scale Problem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874519"/>
            <a:ext cx="5029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300">
                <a:solidFill>
                  <a:srgbClr val="D0D8E8"/>
                </a:solidFill>
              </a:rPr>
              <a:t>▸ E-learning market: $250B (2023) → $842B (2030)</a:t>
            </a:r>
          </a:p>
          <a:p>
            <a:pPr>
              <a:spcBef>
                <a:spcPts val="300"/>
              </a:spcBef>
            </a:pPr>
            <a:r>
              <a:rPr sz="1300">
                <a:solidFill>
                  <a:srgbClr val="D0D8E8"/>
                </a:solidFill>
              </a:rPr>
              <a:t>▸ Coursera alone: 7,000+ courses, 200+ universities</a:t>
            </a:r>
          </a:p>
          <a:p>
            <a:pPr>
              <a:spcBef>
                <a:spcPts val="300"/>
              </a:spcBef>
            </a:pPr>
            <a:r>
              <a:rPr sz="1300">
                <a:solidFill>
                  <a:srgbClr val="D0D8E8"/>
                </a:solidFill>
              </a:rPr>
              <a:t>▸ edX, MIT OCW, Khan Academy growing rapidly</a:t>
            </a:r>
          </a:p>
          <a:p>
            <a:pPr>
              <a:spcBef>
                <a:spcPts val="300"/>
              </a:spcBef>
            </a:pPr>
            <a:r>
              <a:rPr sz="1300">
                <a:solidFill>
                  <a:srgbClr val="D0D8E8"/>
                </a:solidFill>
              </a:rPr>
              <a:t>▸ Result: learners face information overload, not scarcity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416052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696D"/>
                </a:solidFill>
              </a:rPr>
              <a:t>❌ What Keyword Search Misses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4617720"/>
            <a:ext cx="5029200" cy="1554480"/>
          </a:xfrm>
          <a:prstGeom prst="rect">
            <a:avLst/>
          </a:prstGeom>
          <a:solidFill>
            <a:srgbClr val="0D1B3E"/>
          </a:solidFill>
          <a:ln>
            <a:solidFill>
              <a:srgbClr val="0D1B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4681728"/>
            <a:ext cx="4754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FFD166"/>
                </a:solidFill>
              </a:rPr>
              <a:t>"I want ML — practical, not too mathy, preferably free"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5166360"/>
            <a:ext cx="47548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200">
                <a:solidFill>
                  <a:srgbClr val="D0D8E8"/>
                </a:solidFill>
              </a:rPr>
              <a:t>✗ Ignores difficulty constraint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D0D8E8"/>
                </a:solidFill>
              </a:rPr>
              <a:t>✗ Drops negation: 'not mathy' → ranked by math density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D0D8E8"/>
                </a:solidFill>
              </a:rPr>
              <a:t>✗ Misses price preference entirely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080760" y="1325880"/>
            <a:ext cx="5650992" cy="5120640"/>
          </a:xfrm>
          <a:prstGeom prst="rect">
            <a:avLst/>
          </a:prstGeom>
          <a:solidFill>
            <a:srgbClr val="142A5A"/>
          </a:solidFill>
          <a:ln>
            <a:solidFill>
              <a:srgbClr val="142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63640" y="1417320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0B4D8"/>
                </a:solidFill>
              </a:rPr>
              <a:t>🔍 Three Critical Gaps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63640" y="1810512"/>
            <a:ext cx="5303520" cy="1097280"/>
          </a:xfrm>
          <a:prstGeom prst="rect">
            <a:avLst/>
          </a:prstGeom>
          <a:solidFill>
            <a:srgbClr val="0D1B3E"/>
          </a:solidFill>
          <a:ln>
            <a:solidFill>
              <a:srgbClr val="0D1B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0" y="1874519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B4D8"/>
                </a:solidFill>
              </a:rPr>
              <a:t>Gap 1 — Intent Understanding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2221992"/>
            <a:ext cx="5029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0D8E8"/>
                </a:solidFill>
              </a:rPr>
              <a:t>Systems discard difficulty signals, negation, and domain abbreviations before retrieval.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63640" y="3090672"/>
            <a:ext cx="5303520" cy="1097280"/>
          </a:xfrm>
          <a:prstGeom prst="rect">
            <a:avLst/>
          </a:prstGeom>
          <a:solidFill>
            <a:srgbClr val="0D1B3E"/>
          </a:solidFill>
          <a:ln>
            <a:solidFill>
              <a:srgbClr val="0D1B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0" y="3154679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B4D8"/>
                </a:solidFill>
              </a:rPr>
              <a:t>Gap 2 — Cross-Platform Coverage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3502152"/>
            <a:ext cx="5029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0D8E8"/>
                </a:solidFill>
              </a:rPr>
              <a:t>Existing recommenders trained on single-platform datasets — no multi-source reality.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63640" y="4370832"/>
            <a:ext cx="5303520" cy="1097280"/>
          </a:xfrm>
          <a:prstGeom prst="rect">
            <a:avLst/>
          </a:prstGeom>
          <a:solidFill>
            <a:srgbClr val="0D1B3E"/>
          </a:solidFill>
          <a:ln>
            <a:solidFill>
              <a:srgbClr val="0D1B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0" y="4434840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B4D8"/>
                </a:solidFill>
              </a:rPr>
              <a:t>Gap 3 — Cold-Start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4782312"/>
            <a:ext cx="5029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0D8E8"/>
                </a:solidFill>
              </a:rPr>
              <a:t>CF systems fail for new users who make up the bulk of first-time MOOC learners.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1078992"/>
            <a:ext cx="11274552" cy="5029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11274552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0B4D8"/>
                </a:solidFill>
              </a:rPr>
              <a:t>Key Contributions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112745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90E0EF"/>
                </a:solidFill>
              </a:rPr>
              <a:t>Six pillars of NLPRec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325880"/>
            <a:ext cx="3017520" cy="2148840"/>
          </a:xfrm>
          <a:prstGeom prst="rect">
            <a:avLst/>
          </a:prstGeom>
          <a:solidFill>
            <a:srgbClr val="142A5A"/>
          </a:solidFill>
          <a:ln>
            <a:solidFill>
              <a:srgbClr val="142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417320"/>
            <a:ext cx="594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00B4D8"/>
                </a:solidFill>
              </a:rPr>
              <a:t>C1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34440" y="1435607"/>
            <a:ext cx="2057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NLPRec Framework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920240"/>
            <a:ext cx="269748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0D8E8"/>
                </a:solidFill>
              </a:rPr>
              <a:t>Open-source modular NLP recommendation pipeline integrating preprocessing, TF-IDF retrieval &amp; engagement amplification</a:t>
            </a:r>
          </a:p>
        </p:txBody>
      </p:sp>
      <p:sp>
        <p:nvSpPr>
          <p:cNvPr id="9" name="Rectangle 8"/>
          <p:cNvSpPr/>
          <p:nvPr/>
        </p:nvSpPr>
        <p:spPr>
          <a:xfrm>
            <a:off x="3703320" y="1325880"/>
            <a:ext cx="3017520" cy="2148840"/>
          </a:xfrm>
          <a:prstGeom prst="rect">
            <a:avLst/>
          </a:prstGeom>
          <a:solidFill>
            <a:srgbClr val="142A5A"/>
          </a:solidFill>
          <a:ln>
            <a:solidFill>
              <a:srgbClr val="142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840480" y="1417320"/>
            <a:ext cx="594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D166"/>
                </a:solidFill>
              </a:rPr>
              <a:t>C2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80559" y="1435607"/>
            <a:ext cx="2057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Query Understanding Engine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40480" y="1920240"/>
            <a:ext cx="269748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0D8E8"/>
                </a:solidFill>
              </a:rPr>
              <a:t>Nine-step pipeline: abbreviation expansion, domain-safe spell-correction, difficulty extraction, intent-noise stripping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949440" y="1325880"/>
            <a:ext cx="3017520" cy="2148840"/>
          </a:xfrm>
          <a:prstGeom prst="rect">
            <a:avLst/>
          </a:prstGeom>
          <a:solidFill>
            <a:srgbClr val="142A5A"/>
          </a:solidFill>
          <a:ln>
            <a:solidFill>
              <a:srgbClr val="142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086600" y="1417320"/>
            <a:ext cx="594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06D6A0"/>
                </a:solidFill>
              </a:rPr>
              <a:t>C3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26679" y="1435607"/>
            <a:ext cx="2057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Adaptive User Profiling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086600" y="1920240"/>
            <a:ext cx="269748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0D8E8"/>
                </a:solidFill>
              </a:rPr>
              <a:t>Per-user JSON profiles with recency-weighted topic preferences learned from implicit behaviour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3703320"/>
            <a:ext cx="3017520" cy="2148840"/>
          </a:xfrm>
          <a:prstGeom prst="rect">
            <a:avLst/>
          </a:prstGeom>
          <a:solidFill>
            <a:srgbClr val="142A5A"/>
          </a:solidFill>
          <a:ln>
            <a:solidFill>
              <a:srgbClr val="142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94360" y="3794759"/>
            <a:ext cx="594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90E0EF"/>
                </a:solidFill>
              </a:rPr>
              <a:t>C4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34440" y="3813048"/>
            <a:ext cx="2057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Engagement-Augmented Ranking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" y="4297680"/>
            <a:ext cx="269748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0D8E8"/>
                </a:solidFill>
              </a:rPr>
              <a:t>Log-dampened boost that surfaces popular courses without letting legacy content dominate query-relevant results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703320" y="3703320"/>
            <a:ext cx="3017520" cy="2148840"/>
          </a:xfrm>
          <a:prstGeom prst="rect">
            <a:avLst/>
          </a:prstGeom>
          <a:solidFill>
            <a:srgbClr val="142A5A"/>
          </a:solidFill>
          <a:ln>
            <a:solidFill>
              <a:srgbClr val="142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840480" y="3794759"/>
            <a:ext cx="594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D166"/>
                </a:solidFill>
              </a:rPr>
              <a:t>C5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80559" y="3813048"/>
            <a:ext cx="2057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Evaluation Framework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840480" y="4297680"/>
            <a:ext cx="269748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0D8E8"/>
                </a:solidFill>
              </a:rPr>
              <a:t>IR-style P@K, R@K, F1@K with fuzzy relevance matching over 10 curated, multi-constraint test queries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949440" y="3703320"/>
            <a:ext cx="3017520" cy="2148840"/>
          </a:xfrm>
          <a:prstGeom prst="rect">
            <a:avLst/>
          </a:prstGeom>
          <a:solidFill>
            <a:srgbClr val="142A5A"/>
          </a:solidFill>
          <a:ln>
            <a:solidFill>
              <a:srgbClr val="142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086600" y="3794759"/>
            <a:ext cx="594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696D"/>
                </a:solidFill>
              </a:rPr>
              <a:t>C6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726679" y="3813048"/>
            <a:ext cx="2057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Live Search Integration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086600" y="4297680"/>
            <a:ext cx="269748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0D8E8"/>
                </a:solidFill>
              </a:rPr>
              <a:t>Real-time DuckDuckGo search with content filtering, on-the-fly TF-IDF re-ranking &amp; 24-hour disk caching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1078992"/>
            <a:ext cx="11274552" cy="5029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11274552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0B4D8"/>
                </a:solidFill>
              </a:rPr>
              <a:t>Related Work &amp; Positioning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98448"/>
            <a:ext cx="11274552" cy="384048"/>
          </a:xfrm>
          <a:prstGeom prst="rect">
            <a:avLst/>
          </a:prstGeom>
          <a:solidFill>
            <a:srgbClr val="00B4D8"/>
          </a:solidFill>
          <a:ln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344168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D1B3E"/>
                </a:solidFill>
              </a:rPr>
              <a:t>System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926080" y="1344168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D1B3E"/>
                </a:solidFill>
              </a:rPr>
              <a:t>NL Query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51960" y="1344168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D1B3E"/>
                </a:solidFill>
              </a:rPr>
              <a:t>Cold-Start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577840" y="1344168"/>
            <a:ext cx="1691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D1B3E"/>
                </a:solidFill>
              </a:rPr>
              <a:t>Multi-Platform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96912" y="1344168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D1B3E"/>
                </a:solidFill>
              </a:rPr>
              <a:t>Engagement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14232" y="1344168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D1B3E"/>
                </a:solidFill>
              </a:rPr>
              <a:t>Live Search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131552" y="1344168"/>
            <a:ext cx="1417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D1B3E"/>
                </a:solidFill>
              </a:rPr>
              <a:t>Open-Source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1709928"/>
            <a:ext cx="11274552" cy="749808"/>
          </a:xfrm>
          <a:prstGeom prst="rect">
            <a:avLst/>
          </a:prstGeom>
          <a:solidFill>
            <a:srgbClr val="142A5A"/>
          </a:solidFill>
          <a:ln>
            <a:solidFill>
              <a:srgbClr val="142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187452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CF-based [3]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26080" y="1874520"/>
            <a:ext cx="1280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696D"/>
                </a:solidFill>
              </a:rPr>
              <a:t>✗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51960" y="1874520"/>
            <a:ext cx="1280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696D"/>
                </a:solidFill>
              </a:rPr>
              <a:t>✗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577840" y="1874520"/>
            <a:ext cx="1691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696D"/>
                </a:solidFill>
              </a:rPr>
              <a:t>✗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96912" y="187452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696D"/>
                </a:solidFill>
              </a:rPr>
              <a:t>✗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714232" y="187452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696D"/>
                </a:solidFill>
              </a:rPr>
              <a:t>✗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131552" y="1874520"/>
            <a:ext cx="1417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6D6A0"/>
                </a:solidFill>
              </a:rPr>
              <a:t>✓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2514600"/>
            <a:ext cx="11274552" cy="749808"/>
          </a:xfrm>
          <a:prstGeom prst="rect">
            <a:avLst/>
          </a:prstGeom>
          <a:solidFill>
            <a:srgbClr val="142A5A"/>
          </a:solidFill>
          <a:ln>
            <a:solidFill>
              <a:srgbClr val="142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2920" y="2679192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Ontology CBF [7]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926080" y="2679192"/>
            <a:ext cx="1280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D166"/>
                </a:solidFill>
              </a:rPr>
              <a:t>~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251960" y="2679192"/>
            <a:ext cx="1280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6D6A0"/>
                </a:solidFill>
              </a:rPr>
              <a:t>✓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577840" y="2679192"/>
            <a:ext cx="1691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696D"/>
                </a:solidFill>
              </a:rPr>
              <a:t>✗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96912" y="2679192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696D"/>
                </a:solidFill>
              </a:rPr>
              <a:t>✗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714232" y="2679192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696D"/>
                </a:solidFill>
              </a:rPr>
              <a:t>✗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131552" y="2679192"/>
            <a:ext cx="1417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696D"/>
                </a:solidFill>
              </a:rPr>
              <a:t>✗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57200" y="3319272"/>
            <a:ext cx="11274552" cy="749808"/>
          </a:xfrm>
          <a:prstGeom prst="rect">
            <a:avLst/>
          </a:prstGeom>
          <a:solidFill>
            <a:srgbClr val="142A5A"/>
          </a:solidFill>
          <a:ln>
            <a:solidFill>
              <a:srgbClr val="142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02920" y="3483864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BERT-MOOC [10]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926080" y="3483864"/>
            <a:ext cx="1280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6D6A0"/>
                </a:solidFill>
              </a:rPr>
              <a:t>✓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251960" y="3483864"/>
            <a:ext cx="1280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6D6A0"/>
                </a:solidFill>
              </a:rPr>
              <a:t>✓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577840" y="3483864"/>
            <a:ext cx="1691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696D"/>
                </a:solidFill>
              </a:rPr>
              <a:t>✗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296912" y="3483864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696D"/>
                </a:solidFill>
              </a:rPr>
              <a:t>✗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714232" y="3483864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696D"/>
                </a:solidFill>
              </a:rPr>
              <a:t>✗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131552" y="3483864"/>
            <a:ext cx="1417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696D"/>
                </a:solidFill>
              </a:rPr>
              <a:t>✗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57200" y="4123944"/>
            <a:ext cx="11274552" cy="749808"/>
          </a:xfrm>
          <a:prstGeom prst="rect">
            <a:avLst/>
          </a:prstGeom>
          <a:solidFill>
            <a:srgbClr val="142A5A"/>
          </a:solidFill>
          <a:ln>
            <a:solidFill>
              <a:srgbClr val="142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02920" y="4288536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Wan &amp; Niu [6]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926080" y="4288536"/>
            <a:ext cx="1280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696D"/>
                </a:solidFill>
              </a:rPr>
              <a:t>✗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251960" y="4288536"/>
            <a:ext cx="1280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696D"/>
                </a:solidFill>
              </a:rPr>
              <a:t>✗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577840" y="4288536"/>
            <a:ext cx="1691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696D"/>
                </a:solidFill>
              </a:rPr>
              <a:t>✗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296912" y="4288536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6D6A0"/>
                </a:solidFill>
              </a:rPr>
              <a:t>✓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714232" y="4288536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696D"/>
                </a:solidFill>
              </a:rPr>
              <a:t>✗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131552" y="4288536"/>
            <a:ext cx="1417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696D"/>
                </a:solidFill>
              </a:rPr>
              <a:t>✗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57200" y="4928616"/>
            <a:ext cx="11274552" cy="749808"/>
          </a:xfrm>
          <a:prstGeom prst="rect">
            <a:avLst/>
          </a:prstGeom>
          <a:solidFill>
            <a:srgbClr val="093526"/>
          </a:solidFill>
          <a:ln>
            <a:solidFill>
              <a:srgbClr val="0935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02920" y="5093208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6D6A0"/>
                </a:solidFill>
              </a:rPr>
              <a:t>NLPRec (ours)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2926080" y="5093208"/>
            <a:ext cx="1280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6D6A0"/>
                </a:solidFill>
              </a:rPr>
              <a:t>✓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251960" y="5093208"/>
            <a:ext cx="1280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6D6A0"/>
                </a:solidFill>
              </a:rPr>
              <a:t>✓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577840" y="5093208"/>
            <a:ext cx="1691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6D6A0"/>
                </a:solidFill>
              </a:rPr>
              <a:t>✓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296912" y="5093208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6D6A0"/>
                </a:solidFill>
              </a:rPr>
              <a:t>✓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714232" y="5093208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6D6A0"/>
                </a:solidFill>
              </a:rPr>
              <a:t>✓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0131552" y="5093208"/>
            <a:ext cx="1417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6D6A0"/>
                </a:solidFill>
              </a:rPr>
              <a:t>✓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57200" y="6080760"/>
            <a:ext cx="112745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1">
                <a:solidFill>
                  <a:srgbClr val="FFD166"/>
                </a:solidFill>
              </a:rPr>
              <a:t>NLPRec is the only system ticking all six criteria simultaneously.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1078992"/>
            <a:ext cx="11274552" cy="5029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11274552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0B4D8"/>
                </a:solidFill>
              </a:rPr>
              <a:t>System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112745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90E0EF"/>
                </a:solidFill>
              </a:rPr>
              <a:t>Eight-phase modular pipeline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417320"/>
            <a:ext cx="1234440" cy="1463040"/>
          </a:xfrm>
          <a:prstGeom prst="rect">
            <a:avLst/>
          </a:prstGeom>
          <a:solidFill>
            <a:srgbClr val="142A5A"/>
          </a:solidFill>
          <a:ln>
            <a:solidFill>
              <a:srgbClr val="142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463040"/>
            <a:ext cx="1234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00B4D8"/>
                </a:solidFill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874519"/>
            <a:ext cx="1234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Data
Scraping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542032"/>
            <a:ext cx="1234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1">
                <a:solidFill>
                  <a:srgbClr val="90E0EF"/>
                </a:solidFill>
              </a:rPr>
              <a:t>scraper.py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709928" y="1783080"/>
            <a:ext cx="182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0B4D8"/>
                </a:solidFill>
              </a:rPr>
              <a:t>→</a:t>
            </a:r>
          </a:p>
        </p:txBody>
      </p:sp>
      <p:sp>
        <p:nvSpPr>
          <p:cNvPr id="10" name="Rectangle 9"/>
          <p:cNvSpPr/>
          <p:nvPr/>
        </p:nvSpPr>
        <p:spPr>
          <a:xfrm>
            <a:off x="1828800" y="1417320"/>
            <a:ext cx="1234440" cy="1463040"/>
          </a:xfrm>
          <a:prstGeom prst="rect">
            <a:avLst/>
          </a:prstGeom>
          <a:solidFill>
            <a:srgbClr val="142A5A"/>
          </a:solidFill>
          <a:ln>
            <a:solidFill>
              <a:srgbClr val="142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828800" y="1463040"/>
            <a:ext cx="1234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D166"/>
                </a:solidFill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28800" y="1874519"/>
            <a:ext cx="1234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NLP
Preprocess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28800" y="2542032"/>
            <a:ext cx="1234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1">
                <a:solidFill>
                  <a:srgbClr val="90E0EF"/>
                </a:solidFill>
              </a:rPr>
              <a:t>text_preprocessing.py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081528" y="1783080"/>
            <a:ext cx="182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0B4D8"/>
                </a:solidFill>
              </a:rPr>
              <a:t>→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200400" y="1417320"/>
            <a:ext cx="1234440" cy="1463040"/>
          </a:xfrm>
          <a:prstGeom prst="rect">
            <a:avLst/>
          </a:prstGeom>
          <a:solidFill>
            <a:srgbClr val="142A5A"/>
          </a:solidFill>
          <a:ln>
            <a:solidFill>
              <a:srgbClr val="142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200400" y="1463040"/>
            <a:ext cx="1234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06D6A0"/>
                </a:solidFill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00400" y="1874519"/>
            <a:ext cx="1234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TF-IDF
Vectorise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00400" y="2542032"/>
            <a:ext cx="1234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1">
                <a:solidFill>
                  <a:srgbClr val="90E0EF"/>
                </a:solidFill>
              </a:rPr>
              <a:t>vectorizer.py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53127" y="1783080"/>
            <a:ext cx="182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0B4D8"/>
                </a:solidFill>
              </a:rPr>
              <a:t>→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0" y="1417320"/>
            <a:ext cx="1234440" cy="1463040"/>
          </a:xfrm>
          <a:prstGeom prst="rect">
            <a:avLst/>
          </a:prstGeom>
          <a:solidFill>
            <a:srgbClr val="142A5A"/>
          </a:solidFill>
          <a:ln>
            <a:solidFill>
              <a:srgbClr val="142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0" y="1463040"/>
            <a:ext cx="1234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00B4D8"/>
                </a:solidFill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0" y="1874519"/>
            <a:ext cx="1234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Similarity
Ranking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0" y="2542032"/>
            <a:ext cx="1234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1">
                <a:solidFill>
                  <a:srgbClr val="90E0EF"/>
                </a:solidFill>
              </a:rPr>
              <a:t>recommender.py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824727" y="1783080"/>
            <a:ext cx="182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0B4D8"/>
                </a:solidFill>
              </a:rPr>
              <a:t>→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943600" y="1417320"/>
            <a:ext cx="1234440" cy="1463040"/>
          </a:xfrm>
          <a:prstGeom prst="rect">
            <a:avLst/>
          </a:prstGeom>
          <a:solidFill>
            <a:srgbClr val="142A5A"/>
          </a:solidFill>
          <a:ln>
            <a:solidFill>
              <a:srgbClr val="142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943600" y="1463040"/>
            <a:ext cx="1234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D166"/>
                </a:solidFill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943600" y="1874519"/>
            <a:ext cx="1234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User
Profiling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943600" y="2542032"/>
            <a:ext cx="1234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1">
                <a:solidFill>
                  <a:srgbClr val="90E0EF"/>
                </a:solidFill>
              </a:rPr>
              <a:t>user_profile.py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196327" y="1783080"/>
            <a:ext cx="182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0B4D8"/>
                </a:solidFill>
              </a:rPr>
              <a:t>→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315200" y="1417320"/>
            <a:ext cx="1234440" cy="1463040"/>
          </a:xfrm>
          <a:prstGeom prst="rect">
            <a:avLst/>
          </a:prstGeom>
          <a:solidFill>
            <a:srgbClr val="142A5A"/>
          </a:solidFill>
          <a:ln>
            <a:solidFill>
              <a:srgbClr val="142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315200" y="1463040"/>
            <a:ext cx="1234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06D6A0"/>
                </a:solidFill>
              </a:rPr>
              <a:t>6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315200" y="1874519"/>
            <a:ext cx="1234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Behavior
Tracking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315200" y="2542032"/>
            <a:ext cx="1234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1">
                <a:solidFill>
                  <a:srgbClr val="90E0EF"/>
                </a:solidFill>
              </a:rPr>
              <a:t>behavior_tracker.py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567928" y="1783080"/>
            <a:ext cx="182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0B4D8"/>
                </a:solidFill>
              </a:rPr>
              <a:t>→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686800" y="1417320"/>
            <a:ext cx="1234440" cy="1463040"/>
          </a:xfrm>
          <a:prstGeom prst="rect">
            <a:avLst/>
          </a:prstGeom>
          <a:solidFill>
            <a:srgbClr val="142A5A"/>
          </a:solidFill>
          <a:ln>
            <a:solidFill>
              <a:srgbClr val="142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686800" y="1463040"/>
            <a:ext cx="1234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00B4D8"/>
                </a:solidFill>
              </a:rPr>
              <a:t>7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686800" y="1874519"/>
            <a:ext cx="1234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Evaluation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686800" y="2542032"/>
            <a:ext cx="1234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1">
                <a:solidFill>
                  <a:srgbClr val="90E0EF"/>
                </a:solidFill>
              </a:rPr>
              <a:t>evaluation.py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939528" y="1783080"/>
            <a:ext cx="182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0B4D8"/>
                </a:solidFill>
              </a:rPr>
              <a:t>→</a:t>
            </a:r>
          </a:p>
        </p:txBody>
      </p:sp>
      <p:sp>
        <p:nvSpPr>
          <p:cNvPr id="40" name="Rectangle 39"/>
          <p:cNvSpPr/>
          <p:nvPr/>
        </p:nvSpPr>
        <p:spPr>
          <a:xfrm>
            <a:off x="10058400" y="1417320"/>
            <a:ext cx="1234440" cy="1463040"/>
          </a:xfrm>
          <a:prstGeom prst="rect">
            <a:avLst/>
          </a:prstGeom>
          <a:solidFill>
            <a:srgbClr val="142A5A"/>
          </a:solidFill>
          <a:ln>
            <a:solidFill>
              <a:srgbClr val="142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0058400" y="1463040"/>
            <a:ext cx="1234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D166"/>
                </a:solidFill>
              </a:rPr>
              <a:t>8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058400" y="1874519"/>
            <a:ext cx="1234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Streamlit
Front-End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058400" y="2542032"/>
            <a:ext cx="1234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1">
                <a:solidFill>
                  <a:srgbClr val="90E0EF"/>
                </a:solidFill>
              </a:rPr>
              <a:t>app.py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57200" y="3154680"/>
            <a:ext cx="5394960" cy="3246120"/>
          </a:xfrm>
          <a:prstGeom prst="rect">
            <a:avLst/>
          </a:prstGeom>
          <a:solidFill>
            <a:srgbClr val="142A5A"/>
          </a:solidFill>
          <a:ln>
            <a:solidFill>
              <a:srgbClr val="142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40080" y="3218688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B4D8"/>
                </a:solidFill>
              </a:rPr>
              <a:t>Supporting Modules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40080" y="3611880"/>
            <a:ext cx="502920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200">
                <a:solidFill>
                  <a:srgbClr val="D0D8E8"/>
                </a:solidFill>
              </a:rPr>
              <a:t>▸ query_engine.py  — Nine-step query understanding pipeline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D0D8E8"/>
                </a:solidFill>
              </a:rPr>
              <a:t>▸ live_search.py   — DuckDuckGo real-time search + re-ranking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D0D8E8"/>
                </a:solidFill>
              </a:rPr>
              <a:t>▸ query_suggestions.py — 30-topic knowledge-graph chip suggestions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080760" y="3154680"/>
            <a:ext cx="5650992" cy="3246120"/>
          </a:xfrm>
          <a:prstGeom prst="rect">
            <a:avLst/>
          </a:prstGeom>
          <a:solidFill>
            <a:srgbClr val="142A5A"/>
          </a:solidFill>
          <a:ln>
            <a:solidFill>
              <a:srgbClr val="142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263640" y="3218688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D166"/>
                </a:solidFill>
              </a:rPr>
              <a:t>Design Principle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263640" y="3639312"/>
            <a:ext cx="53035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D0D8E8"/>
                </a:solidFill>
              </a:rPr>
              <a:t>Each module exposes a clean, typed API — any component (e.g. TF-IDF vectoriser) can be swapped for a more powerful alternative without touching the rest of the system.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57200" y="6492240"/>
            <a:ext cx="1127455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90E0EF"/>
                </a:solidFill>
              </a:rPr>
              <a:t>Data sources: Coursera REST API   ·   edX Discovery API   ·   MIT OCW Sitemap  →  dataset/courses.csv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1078992"/>
            <a:ext cx="11274552" cy="5029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11274552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0B4D8"/>
                </a:solidFill>
              </a:rPr>
              <a:t>NLP Preprocessing Pipeline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112745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90E0EF"/>
                </a:solidFill>
              </a:rPr>
              <a:t>Identical 7-stage transformation applied to both corpus documents and user queries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98448"/>
            <a:ext cx="11274552" cy="694944"/>
          </a:xfrm>
          <a:prstGeom prst="rect">
            <a:avLst/>
          </a:prstGeom>
          <a:solidFill>
            <a:srgbClr val="142A5A"/>
          </a:solidFill>
          <a:ln>
            <a:solidFill>
              <a:srgbClr val="142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408176"/>
            <a:ext cx="4572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00B4D8"/>
                </a:solidFill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1417319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Lowercasing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1463039"/>
            <a:ext cx="7132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D0D8E8"/>
                </a:solidFill>
              </a:rPr>
              <a:t>Uniform case — 'Python' == 'python'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2048255"/>
            <a:ext cx="11274552" cy="694944"/>
          </a:xfrm>
          <a:prstGeom prst="rect">
            <a:avLst/>
          </a:prstGeom>
          <a:solidFill>
            <a:srgbClr val="142A5A"/>
          </a:solidFill>
          <a:ln>
            <a:solidFill>
              <a:srgbClr val="142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2157984"/>
            <a:ext cx="4572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D166"/>
                </a:solidFill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2167127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URL Removal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89120" y="2212848"/>
            <a:ext cx="7132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D0D8E8"/>
                </a:solidFill>
              </a:rPr>
              <a:t>Strip https?://\S+ from scraped descriptions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2798063"/>
            <a:ext cx="11274552" cy="694944"/>
          </a:xfrm>
          <a:prstGeom prst="rect">
            <a:avLst/>
          </a:prstGeom>
          <a:solidFill>
            <a:srgbClr val="142A5A"/>
          </a:solidFill>
          <a:ln>
            <a:solidFill>
              <a:srgbClr val="142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2907791"/>
            <a:ext cx="4572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06D6A0"/>
                </a:solidFill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" y="2916935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Punctuation &amp; Digit Strip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89120" y="2962656"/>
            <a:ext cx="7132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D0D8E8"/>
                </a:solidFill>
              </a:rPr>
              <a:t>str.translate()  removes noise tokens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3547872"/>
            <a:ext cx="11274552" cy="694944"/>
          </a:xfrm>
          <a:prstGeom prst="rect">
            <a:avLst/>
          </a:prstGeom>
          <a:solidFill>
            <a:srgbClr val="142A5A"/>
          </a:solidFill>
          <a:ln>
            <a:solidFill>
              <a:srgbClr val="142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8640" y="3657600"/>
            <a:ext cx="4572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00B4D8"/>
                </a:solidFill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" y="3666744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Whitespace Normalisation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89120" y="3712463"/>
            <a:ext cx="7132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D0D8E8"/>
                </a:solidFill>
              </a:rPr>
              <a:t>Collapse multiple spaces, strip leading/trailing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4297679"/>
            <a:ext cx="11274552" cy="694944"/>
          </a:xfrm>
          <a:prstGeom prst="rect">
            <a:avLst/>
          </a:prstGeom>
          <a:solidFill>
            <a:srgbClr val="142A5A"/>
          </a:solidFill>
          <a:ln>
            <a:solidFill>
              <a:srgbClr val="142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48640" y="4407407"/>
            <a:ext cx="4572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D166"/>
                </a:solidFill>
              </a:rPr>
              <a:t>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97280" y="4416551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Tokenisation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389120" y="4462271"/>
            <a:ext cx="7132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D0D8E8"/>
                </a:solidFill>
              </a:rPr>
              <a:t>NLTK word_tokenize: handles contractions &amp; punctuation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7200" y="5047488"/>
            <a:ext cx="11274552" cy="694944"/>
          </a:xfrm>
          <a:prstGeom prst="rect">
            <a:avLst/>
          </a:prstGeom>
          <a:solidFill>
            <a:srgbClr val="142A5A"/>
          </a:solidFill>
          <a:ln>
            <a:solidFill>
              <a:srgbClr val="142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48640" y="5157216"/>
            <a:ext cx="4572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06D6A0"/>
                </a:solidFill>
              </a:rPr>
              <a:t>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97280" y="5166359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Selective Stopword Removal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389120" y="5212079"/>
            <a:ext cx="7132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D0D8E8"/>
                </a:solidFill>
              </a:rPr>
              <a:t>Keep: not, no, nor, never, when, where, what, how, me, my, i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57200" y="5797296"/>
            <a:ext cx="11274552" cy="694944"/>
          </a:xfrm>
          <a:prstGeom prst="rect">
            <a:avLst/>
          </a:prstGeom>
          <a:solidFill>
            <a:srgbClr val="142A5A"/>
          </a:solidFill>
          <a:ln>
            <a:solidFill>
              <a:srgbClr val="142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48640" y="5907024"/>
            <a:ext cx="4572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00B4D8"/>
                </a:solidFill>
              </a:rPr>
              <a:t>7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97280" y="5916168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Lemmatisation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389120" y="5961888"/>
            <a:ext cx="7132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D0D8E8"/>
                </a:solidFill>
              </a:rPr>
              <a:t>WordNetLemmatizer: algorithms→algorithm, studying→study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57200" y="6446520"/>
            <a:ext cx="11274552" cy="384048"/>
          </a:xfrm>
          <a:prstGeom prst="rect">
            <a:avLst/>
          </a:prstGeom>
          <a:solidFill>
            <a:srgbClr val="093526"/>
          </a:solidFill>
          <a:ln>
            <a:solidFill>
              <a:srgbClr val="0935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0080" y="6473952"/>
            <a:ext cx="1090879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06D6A0"/>
                </a:solidFill>
              </a:rPr>
              <a:t>Key insight: same pipeline on both corpus &amp; query guarantees vectors are compared in a uniformly transformed representation — preventing silent accuracy loss.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1078992"/>
            <a:ext cx="11274552" cy="5029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11274552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0B4D8"/>
                </a:solidFill>
              </a:rPr>
              <a:t>TF-IDF Vectorisation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112745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90E0EF"/>
                </a:solidFill>
              </a:rPr>
              <a:t>Sublinear TF · Smoothed IDF · Bigram features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98448"/>
            <a:ext cx="5394960" cy="5120640"/>
          </a:xfrm>
          <a:prstGeom prst="rect">
            <a:avLst/>
          </a:prstGeom>
          <a:solidFill>
            <a:srgbClr val="142A5A"/>
          </a:solidFill>
          <a:ln>
            <a:solidFill>
              <a:srgbClr val="142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389888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0B4D8"/>
                </a:solidFill>
              </a:rPr>
              <a:t>Core Equations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810512"/>
            <a:ext cx="5029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D166"/>
                </a:solidFill>
              </a:rPr>
              <a:t>Sublinear TF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103120"/>
            <a:ext cx="50292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0B4D8"/>
                </a:solidFill>
              </a:rPr>
              <a:t>TF(t,d) = 1+log(count(t,d))  if count&gt;0
          = 0                  otherwise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578608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D0D8E8"/>
                </a:solidFill>
              </a:rPr>
              <a:t>Prevents saturation — 50 mentions of 'Python'
not ranked 50× higher than 1 mention.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044952"/>
            <a:ext cx="5029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D166"/>
                </a:solidFill>
              </a:rPr>
              <a:t>Smoothed IDF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3337560"/>
            <a:ext cx="50292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0B4D8"/>
                </a:solidFill>
              </a:rPr>
              <a:t>IDF(t) = log((1+N)/(1+df(t))) + 1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3813048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D0D8E8"/>
                </a:solidFill>
              </a:rPr>
              <a:t>Avoids zero-division; handles unseen query terms.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4279392"/>
            <a:ext cx="5029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D166"/>
                </a:solidFill>
              </a:rPr>
              <a:t>TF-IDF Score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4572000"/>
            <a:ext cx="50292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0B4D8"/>
                </a:solidFill>
              </a:rPr>
              <a:t>TFIDF(t,d) = TF(t,d) × IDF(t)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5047488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D0D8E8"/>
                </a:solidFill>
              </a:rPr>
              <a:t>Final weight for term t in document d.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5513831"/>
            <a:ext cx="5029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D166"/>
                </a:solidFill>
              </a:rPr>
              <a:t>Corpus Document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5806440"/>
            <a:ext cx="50292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0B4D8"/>
                </a:solidFill>
              </a:rPr>
              <a:t>dᵢ = titleᵢ ⊕ descriptionᵢ ⊕ skillsᵢ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6281927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D0D8E8"/>
                </a:solidFill>
              </a:rPr>
              <a:t>Combining three fields gives far richer signal per course.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080760" y="1298448"/>
            <a:ext cx="5650992" cy="5120640"/>
          </a:xfrm>
          <a:prstGeom prst="rect">
            <a:avLst/>
          </a:prstGeom>
          <a:solidFill>
            <a:srgbClr val="142A5A"/>
          </a:solidFill>
          <a:ln>
            <a:solidFill>
              <a:srgbClr val="142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63640" y="1389888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0B4D8"/>
                </a:solidFill>
              </a:rPr>
              <a:t>Vectoriser Hyperparameters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263640" y="1801368"/>
            <a:ext cx="5303520" cy="347472"/>
          </a:xfrm>
          <a:prstGeom prst="rect">
            <a:avLst/>
          </a:prstGeom>
          <a:solidFill>
            <a:srgbClr val="00B4D8"/>
          </a:solidFill>
          <a:ln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09360" y="1847088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D1B3E"/>
                </a:solidFill>
              </a:rPr>
              <a:t>Parameter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66760" y="1847088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D1B3E"/>
                </a:solidFill>
              </a:rPr>
              <a:t>Value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418320" y="1847088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D1B3E"/>
                </a:solidFill>
              </a:rPr>
              <a:t>Rationale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263640" y="2176272"/>
            <a:ext cx="5303520" cy="658368"/>
          </a:xfrm>
          <a:prstGeom prst="rect">
            <a:avLst/>
          </a:prstGeom>
          <a:solidFill>
            <a:srgbClr val="0D1B3E"/>
          </a:solidFill>
          <a:ln>
            <a:solidFill>
              <a:srgbClr val="0D1B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09360" y="2313432"/>
            <a:ext cx="2011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90E0EF"/>
                </a:solidFill>
              </a:rPr>
              <a:t>max_features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66760" y="2313432"/>
            <a:ext cx="1005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D166"/>
                </a:solidFill>
              </a:rPr>
              <a:t>5,000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418320" y="2313432"/>
            <a:ext cx="1920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D0D8E8"/>
                </a:solidFill>
              </a:rPr>
              <a:t>Coverage vs. memory balance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263640" y="2871215"/>
            <a:ext cx="5303520" cy="658368"/>
          </a:xfrm>
          <a:prstGeom prst="rect">
            <a:avLst/>
          </a:prstGeom>
          <a:solidFill>
            <a:srgbClr val="142A5A"/>
          </a:solidFill>
          <a:ln>
            <a:solidFill>
              <a:srgbClr val="142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309360" y="3008375"/>
            <a:ext cx="2011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90E0EF"/>
                </a:solidFill>
              </a:rPr>
              <a:t>ngram_range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366760" y="3008375"/>
            <a:ext cx="1005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D166"/>
                </a:solidFill>
              </a:rPr>
              <a:t>(1, 2)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418320" y="3008375"/>
            <a:ext cx="1920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D0D8E8"/>
                </a:solidFill>
              </a:rPr>
              <a:t>Captures multi-word domain terms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263640" y="3566160"/>
            <a:ext cx="5303520" cy="658368"/>
          </a:xfrm>
          <a:prstGeom prst="rect">
            <a:avLst/>
          </a:prstGeom>
          <a:solidFill>
            <a:srgbClr val="0D1B3E"/>
          </a:solidFill>
          <a:ln>
            <a:solidFill>
              <a:srgbClr val="0D1B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309360" y="3703320"/>
            <a:ext cx="2011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90E0EF"/>
                </a:solidFill>
              </a:rPr>
              <a:t>min_df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366760" y="3703320"/>
            <a:ext cx="1005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D166"/>
                </a:solidFill>
              </a:rPr>
              <a:t>1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418320" y="3703320"/>
            <a:ext cx="1920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D0D8E8"/>
                </a:solidFill>
              </a:rPr>
              <a:t>Include all terms (small corpus)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263640" y="4261104"/>
            <a:ext cx="5303520" cy="658368"/>
          </a:xfrm>
          <a:prstGeom prst="rect">
            <a:avLst/>
          </a:prstGeom>
          <a:solidFill>
            <a:srgbClr val="142A5A"/>
          </a:solidFill>
          <a:ln>
            <a:solidFill>
              <a:srgbClr val="142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309360" y="4398264"/>
            <a:ext cx="2011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90E0EF"/>
                </a:solidFill>
              </a:rPr>
              <a:t>sublinear_tf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366760" y="4398264"/>
            <a:ext cx="1005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D166"/>
                </a:solidFill>
              </a:rPr>
              <a:t>True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418320" y="4398264"/>
            <a:ext cx="1920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D0D8E8"/>
                </a:solidFill>
              </a:rPr>
              <a:t>Prevents term saturation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263640" y="4956048"/>
            <a:ext cx="5303520" cy="658368"/>
          </a:xfrm>
          <a:prstGeom prst="rect">
            <a:avLst/>
          </a:prstGeom>
          <a:solidFill>
            <a:srgbClr val="0D1B3E"/>
          </a:solidFill>
          <a:ln>
            <a:solidFill>
              <a:srgbClr val="0D1B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309360" y="5093208"/>
            <a:ext cx="2011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90E0EF"/>
                </a:solidFill>
              </a:rPr>
              <a:t>smooth_idf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366760" y="5093208"/>
            <a:ext cx="1005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D166"/>
                </a:solidFill>
              </a:rPr>
              <a:t>True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418320" y="5093208"/>
            <a:ext cx="1920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D0D8E8"/>
                </a:solidFill>
              </a:rPr>
              <a:t>Prevents zero-division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263640" y="5650992"/>
            <a:ext cx="5303520" cy="658368"/>
          </a:xfrm>
          <a:prstGeom prst="rect">
            <a:avLst/>
          </a:prstGeom>
          <a:solidFill>
            <a:srgbClr val="142A5A"/>
          </a:solidFill>
          <a:ln>
            <a:solidFill>
              <a:srgbClr val="142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309360" y="5788152"/>
            <a:ext cx="2011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90E0EF"/>
                </a:solidFill>
              </a:rPr>
              <a:t>norm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366760" y="5788152"/>
            <a:ext cx="1005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D166"/>
                </a:solidFill>
              </a:rPr>
              <a:t>L2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418320" y="5788152"/>
            <a:ext cx="1920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D0D8E8"/>
                </a:solidFill>
              </a:rPr>
              <a:t>Cosine → fast dot product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1078992"/>
            <a:ext cx="11274552" cy="5029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11274552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0B4D8"/>
                </a:solidFill>
              </a:rPr>
              <a:t>Retrieval &amp; Ranking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112745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90E0EF"/>
                </a:solidFill>
              </a:rPr>
              <a:t>Cosine similarity + log-dampened engagement boost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98448"/>
            <a:ext cx="11274552" cy="5120640"/>
          </a:xfrm>
          <a:prstGeom prst="rect">
            <a:avLst/>
          </a:prstGeom>
          <a:solidFill>
            <a:srgbClr val="142A5A"/>
          </a:solidFill>
          <a:ln>
            <a:solidFill>
              <a:srgbClr val="142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6858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B4D8"/>
                </a:solidFill>
              </a:rPr>
              <a:t>Step 1 — Cosine Similarity Retrieval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783080"/>
            <a:ext cx="10817352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D0D8E8"/>
                </a:solidFill>
              </a:rPr>
              <a:t>q→ = vectoriser(preprocess(q))
sim(q,dᵢ) = (q→ · dᵢ→) / (‖q→‖ · ‖dᵢ→‖)
[L2 normalisation → reduces to a fast dot product via sklearn.cosine_similarity()]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724912"/>
            <a:ext cx="6858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D166"/>
                </a:solidFill>
              </a:rPr>
              <a:t>Step 2 — Log-Dampened Engagement Boost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136392"/>
            <a:ext cx="10817352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D0D8E8"/>
                </a:solidFill>
              </a:rPr>
              <a:t>boostᵣₐᵥᵥ(c) = 0.015 × clicks(c) + 0.025 × saves(c)
boost(c)     = min( ln(1 + boostᵣₐᵥᵥ(c)) × 0.05 ,  δ=0.12 )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3950208"/>
            <a:ext cx="3291840" cy="1325880"/>
          </a:xfrm>
          <a:prstGeom prst="rect">
            <a:avLst/>
          </a:prstGeom>
          <a:solidFill>
            <a:srgbClr val="0D1B3E"/>
          </a:solidFill>
          <a:ln>
            <a:solidFill>
              <a:srgbClr val="0D1B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4041648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B4D8"/>
                </a:solidFill>
              </a:rPr>
              <a:t>📉 Dampening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4425696"/>
            <a:ext cx="30175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0D8E8"/>
                </a:solidFill>
              </a:rPr>
              <a:t>Log produces diminishing returns — 1,000 clicks ≠ 1,000× benefit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114800" y="3950208"/>
            <a:ext cx="3291840" cy="1325880"/>
          </a:xfrm>
          <a:prstGeom prst="rect">
            <a:avLst/>
          </a:prstGeom>
          <a:solidFill>
            <a:srgbClr val="0D1B3E"/>
          </a:solidFill>
          <a:ln>
            <a:solidFill>
              <a:srgbClr val="0D1B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251960" y="4041648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B4D8"/>
                </a:solidFill>
              </a:rPr>
              <a:t>🔒 Bounded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51960" y="4425696"/>
            <a:ext cx="30175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0D8E8"/>
                </a:solidFill>
              </a:rPr>
              <a:t>Cap δ=0.12 → popularity cannot shift cosine score by more than 12%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589520" y="3950208"/>
            <a:ext cx="3291840" cy="1325880"/>
          </a:xfrm>
          <a:prstGeom prst="rect">
            <a:avLst/>
          </a:prstGeom>
          <a:solidFill>
            <a:srgbClr val="0D1B3E"/>
          </a:solidFill>
          <a:ln>
            <a:solidFill>
              <a:srgbClr val="0D1B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26680" y="4041648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B4D8"/>
                </a:solidFill>
              </a:rPr>
              <a:t>🔖 Save Weight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26680" y="4425696"/>
            <a:ext cx="30175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0D8E8"/>
                </a:solidFill>
              </a:rPr>
              <a:t>Saves (0.025) valued 67% higher than clicks (0.015) — stronger intent signal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5349240"/>
            <a:ext cx="6858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6D6A0"/>
                </a:solidFill>
              </a:rPr>
              <a:t>Step 3 — Final Ranking Score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5760720"/>
            <a:ext cx="1081735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D0D8E8"/>
                </a:solidFill>
              </a:rPr>
              <a:t>sᵢ = sim(q, dᵢ) + boost(dᵢ)        [threshold: sᵢ ≤ 0.05 discarded; ties broken by rating]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6236208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696D"/>
                </a:solidFill>
              </a:rPr>
              <a:t>Keyword Baseline (Eq. 11):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343400" y="6236208"/>
            <a:ext cx="7132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D0D8E8"/>
                </a:solidFill>
              </a:rPr>
              <a:t>scoreₖᵥᵥ(q,d) = Σ 𝟙[t ∈ text(d)]   — no weighting, no preprocessing, no difficulty awareness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1078992"/>
            <a:ext cx="11274552" cy="5029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11274552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0B4D8"/>
                </a:solidFill>
              </a:rPr>
              <a:t>Query Understanding Engine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112745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90E0EF"/>
                </a:solidFill>
              </a:rPr>
              <a:t>Nine-step pipeline running before TF-IDF vectorisation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347472" y="1280160"/>
            <a:ext cx="1188720" cy="1645920"/>
          </a:xfrm>
          <a:prstGeom prst="rect">
            <a:avLst/>
          </a:prstGeom>
          <a:solidFill>
            <a:srgbClr val="142A5A"/>
          </a:solidFill>
          <a:ln>
            <a:solidFill>
              <a:srgbClr val="142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47472" y="1344168"/>
            <a:ext cx="1188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00B4D8"/>
                </a:solidFill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93192" y="1719072"/>
            <a:ext cx="10972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Punctuation
Normalisation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36192" y="1874519"/>
            <a:ext cx="137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0B4D8"/>
                </a:solidFill>
              </a:rPr>
              <a:t>→</a:t>
            </a:r>
          </a:p>
        </p:txBody>
      </p:sp>
      <p:sp>
        <p:nvSpPr>
          <p:cNvPr id="9" name="Rectangle 8"/>
          <p:cNvSpPr/>
          <p:nvPr/>
        </p:nvSpPr>
        <p:spPr>
          <a:xfrm>
            <a:off x="1636776" y="1280160"/>
            <a:ext cx="1188720" cy="1645920"/>
          </a:xfrm>
          <a:prstGeom prst="rect">
            <a:avLst/>
          </a:prstGeom>
          <a:solidFill>
            <a:srgbClr val="142A5A"/>
          </a:solidFill>
          <a:ln>
            <a:solidFill>
              <a:srgbClr val="142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636776" y="1344168"/>
            <a:ext cx="1188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D166"/>
                </a:solidFill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82496" y="1719072"/>
            <a:ext cx="10972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Abbreviation
Expansion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825496" y="1874519"/>
            <a:ext cx="137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0B4D8"/>
                </a:solidFill>
              </a:rPr>
              <a:t>→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926080" y="1280160"/>
            <a:ext cx="1188720" cy="1645920"/>
          </a:xfrm>
          <a:prstGeom prst="rect">
            <a:avLst/>
          </a:prstGeom>
          <a:solidFill>
            <a:srgbClr val="142A5A"/>
          </a:solidFill>
          <a:ln>
            <a:solidFill>
              <a:srgbClr val="142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926080" y="1344168"/>
            <a:ext cx="1188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06D6A0"/>
                </a:solidFill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71800" y="1719072"/>
            <a:ext cx="10972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Spell
Correction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14800" y="1874519"/>
            <a:ext cx="137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0B4D8"/>
                </a:solidFill>
              </a:rPr>
              <a:t>→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215384" y="1280160"/>
            <a:ext cx="1188720" cy="1645920"/>
          </a:xfrm>
          <a:prstGeom prst="rect">
            <a:avLst/>
          </a:prstGeom>
          <a:solidFill>
            <a:srgbClr val="142A5A"/>
          </a:solidFill>
          <a:ln>
            <a:solidFill>
              <a:srgbClr val="142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215384" y="1344168"/>
            <a:ext cx="1188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00B4D8"/>
                </a:solidFill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61104" y="1719072"/>
            <a:ext cx="10972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Difficulty
Extraction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04104" y="1874519"/>
            <a:ext cx="137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0B4D8"/>
                </a:solidFill>
              </a:rPr>
              <a:t>→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504688" y="1280160"/>
            <a:ext cx="1188720" cy="1645920"/>
          </a:xfrm>
          <a:prstGeom prst="rect">
            <a:avLst/>
          </a:prstGeom>
          <a:solidFill>
            <a:srgbClr val="142A5A"/>
          </a:solidFill>
          <a:ln>
            <a:solidFill>
              <a:srgbClr val="142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504688" y="1344168"/>
            <a:ext cx="1188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D166"/>
                </a:solidFill>
              </a:rPr>
              <a:t>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550408" y="1719072"/>
            <a:ext cx="10972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Intent Noise
Stripping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693408" y="1874519"/>
            <a:ext cx="137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0B4D8"/>
                </a:solidFill>
              </a:rPr>
              <a:t>→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793992" y="1280160"/>
            <a:ext cx="1188720" cy="1645920"/>
          </a:xfrm>
          <a:prstGeom prst="rect">
            <a:avLst/>
          </a:prstGeom>
          <a:solidFill>
            <a:srgbClr val="142A5A"/>
          </a:solidFill>
          <a:ln>
            <a:solidFill>
              <a:srgbClr val="142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793992" y="1344168"/>
            <a:ext cx="1188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06D6A0"/>
                </a:solidFill>
              </a:rPr>
              <a:t>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39712" y="1719072"/>
            <a:ext cx="10972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Level Word
Removal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982712" y="1874519"/>
            <a:ext cx="137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0B4D8"/>
                </a:solidFill>
              </a:rPr>
              <a:t>→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083296" y="1280160"/>
            <a:ext cx="1188720" cy="1645920"/>
          </a:xfrm>
          <a:prstGeom prst="rect">
            <a:avLst/>
          </a:prstGeom>
          <a:solidFill>
            <a:srgbClr val="142A5A"/>
          </a:solidFill>
          <a:ln>
            <a:solidFill>
              <a:srgbClr val="142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083296" y="1344168"/>
            <a:ext cx="1188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00B4D8"/>
                </a:solidFill>
              </a:rPr>
              <a:t>7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129016" y="1719072"/>
            <a:ext cx="10972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Topic
Expansion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272016" y="1874519"/>
            <a:ext cx="137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0B4D8"/>
                </a:solidFill>
              </a:rPr>
              <a:t>→</a:t>
            </a:r>
          </a:p>
        </p:txBody>
      </p:sp>
      <p:sp>
        <p:nvSpPr>
          <p:cNvPr id="33" name="Rectangle 32"/>
          <p:cNvSpPr/>
          <p:nvPr/>
        </p:nvSpPr>
        <p:spPr>
          <a:xfrm>
            <a:off x="9372600" y="1280160"/>
            <a:ext cx="1188720" cy="1645920"/>
          </a:xfrm>
          <a:prstGeom prst="rect">
            <a:avLst/>
          </a:prstGeom>
          <a:solidFill>
            <a:srgbClr val="142A5A"/>
          </a:solidFill>
          <a:ln>
            <a:solidFill>
              <a:srgbClr val="142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372600" y="1344168"/>
            <a:ext cx="1188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D166"/>
                </a:solidFill>
              </a:rPr>
              <a:t>8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418320" y="1719072"/>
            <a:ext cx="10972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Live Query
Generation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561320" y="1874519"/>
            <a:ext cx="137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0B4D8"/>
                </a:solidFill>
              </a:rPr>
              <a:t>→</a:t>
            </a:r>
          </a:p>
        </p:txBody>
      </p:sp>
      <p:sp>
        <p:nvSpPr>
          <p:cNvPr id="37" name="Rectangle 36"/>
          <p:cNvSpPr/>
          <p:nvPr/>
        </p:nvSpPr>
        <p:spPr>
          <a:xfrm>
            <a:off x="10661904" y="1280160"/>
            <a:ext cx="1188720" cy="1645920"/>
          </a:xfrm>
          <a:prstGeom prst="rect">
            <a:avLst/>
          </a:prstGeom>
          <a:solidFill>
            <a:srgbClr val="142A5A"/>
          </a:solidFill>
          <a:ln>
            <a:solidFill>
              <a:srgbClr val="142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0661904" y="1344168"/>
            <a:ext cx="1188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06D6A0"/>
                </a:solidFill>
              </a:rPr>
              <a:t>9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707624" y="1719072"/>
            <a:ext cx="10972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Correction
Display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47472" y="3035808"/>
            <a:ext cx="1188720" cy="2286000"/>
          </a:xfrm>
          <a:prstGeom prst="rect">
            <a:avLst/>
          </a:prstGeom>
          <a:solidFill>
            <a:srgbClr val="0D1B3E"/>
          </a:solidFill>
          <a:ln>
            <a:solidFill>
              <a:srgbClr val="0D1B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11480" y="3108960"/>
            <a:ext cx="1060704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D0D8E8"/>
                </a:solidFill>
              </a:rPr>
              <a:t>Non-standard symbols &amp; repeated punctuation → whitespace</a:t>
            </a:r>
          </a:p>
        </p:txBody>
      </p:sp>
      <p:sp>
        <p:nvSpPr>
          <p:cNvPr id="42" name="Rectangle 41"/>
          <p:cNvSpPr/>
          <p:nvPr/>
        </p:nvSpPr>
        <p:spPr>
          <a:xfrm>
            <a:off x="1636776" y="3035808"/>
            <a:ext cx="1188720" cy="2286000"/>
          </a:xfrm>
          <a:prstGeom prst="rect">
            <a:avLst/>
          </a:prstGeom>
          <a:solidFill>
            <a:srgbClr val="0D1B3E"/>
          </a:solidFill>
          <a:ln>
            <a:solidFill>
              <a:srgbClr val="0D1B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700784" y="3108960"/>
            <a:ext cx="1060704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D0D8E8"/>
                </a:solidFill>
              </a:rPr>
              <a:t>100+ regex rules: ml→machine learning, noob→beginner, js→javascript</a:t>
            </a:r>
          </a:p>
        </p:txBody>
      </p:sp>
      <p:sp>
        <p:nvSpPr>
          <p:cNvPr id="44" name="Rectangle 43"/>
          <p:cNvSpPr/>
          <p:nvPr/>
        </p:nvSpPr>
        <p:spPr>
          <a:xfrm>
            <a:off x="2926080" y="3035808"/>
            <a:ext cx="1188720" cy="2286000"/>
          </a:xfrm>
          <a:prstGeom prst="rect">
            <a:avLst/>
          </a:prstGeom>
          <a:solidFill>
            <a:srgbClr val="0D1B3E"/>
          </a:solidFill>
          <a:ln>
            <a:solidFill>
              <a:srgbClr val="0D1B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2990088" y="3108960"/>
            <a:ext cx="1060704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D0D8E8"/>
                </a:solidFill>
              </a:rPr>
              <a:t>pyspellchecker (edit-dist=1) with 150+ protected tech-vocab terms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215384" y="3035808"/>
            <a:ext cx="1188720" cy="2286000"/>
          </a:xfrm>
          <a:prstGeom prst="rect">
            <a:avLst/>
          </a:prstGeom>
          <a:solidFill>
            <a:srgbClr val="0D1B3E"/>
          </a:solidFill>
          <a:ln>
            <a:solidFill>
              <a:srgbClr val="0D1B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279392" y="3108960"/>
            <a:ext cx="1060704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D0D8E8"/>
                </a:solidFill>
              </a:rPr>
              <a:t>Regex detects beginner / intermediate / advanced → stored as metadata</a:t>
            </a:r>
          </a:p>
        </p:txBody>
      </p:sp>
      <p:sp>
        <p:nvSpPr>
          <p:cNvPr id="48" name="Rectangle 47"/>
          <p:cNvSpPr/>
          <p:nvPr/>
        </p:nvSpPr>
        <p:spPr>
          <a:xfrm>
            <a:off x="5504688" y="3035808"/>
            <a:ext cx="1188720" cy="2286000"/>
          </a:xfrm>
          <a:prstGeom prst="rect">
            <a:avLst/>
          </a:prstGeom>
          <a:solidFill>
            <a:srgbClr val="0D1B3E"/>
          </a:solidFill>
          <a:ln>
            <a:solidFill>
              <a:srgbClr val="0D1B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5568696" y="3108960"/>
            <a:ext cx="1060704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D0D8E8"/>
                </a:solidFill>
              </a:rPr>
              <a:t>Removes: 'I want to learn', 'teach me', 'show me how to'…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793992" y="3035808"/>
            <a:ext cx="1188720" cy="2286000"/>
          </a:xfrm>
          <a:prstGeom prst="rect">
            <a:avLst/>
          </a:prstGeom>
          <a:solidFill>
            <a:srgbClr val="0D1B3E"/>
          </a:solidFill>
          <a:ln>
            <a:solidFill>
              <a:srgbClr val="0D1B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858000" y="3108960"/>
            <a:ext cx="1060704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D0D8E8"/>
                </a:solidFill>
              </a:rPr>
              <a:t>Strips difficulty words from core topic string before retrieval</a:t>
            </a:r>
          </a:p>
        </p:txBody>
      </p:sp>
      <p:sp>
        <p:nvSpPr>
          <p:cNvPr id="52" name="Rectangle 51"/>
          <p:cNvSpPr/>
          <p:nvPr/>
        </p:nvSpPr>
        <p:spPr>
          <a:xfrm>
            <a:off x="8083296" y="3035808"/>
            <a:ext cx="1188720" cy="2286000"/>
          </a:xfrm>
          <a:prstGeom prst="rect">
            <a:avLst/>
          </a:prstGeom>
          <a:solidFill>
            <a:srgbClr val="0D1B3E"/>
          </a:solidFill>
          <a:ln>
            <a:solidFill>
              <a:srgbClr val="0D1B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8147304" y="3108960"/>
            <a:ext cx="1060704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D0D8E8"/>
                </a:solidFill>
              </a:rPr>
              <a:t>30-topic graph: ml → {scikit-learn, tensorflow, pytorch, …}</a:t>
            </a:r>
          </a:p>
        </p:txBody>
      </p:sp>
      <p:sp>
        <p:nvSpPr>
          <p:cNvPr id="54" name="Rectangle 53"/>
          <p:cNvSpPr/>
          <p:nvPr/>
        </p:nvSpPr>
        <p:spPr>
          <a:xfrm>
            <a:off x="9372600" y="3035808"/>
            <a:ext cx="1188720" cy="2286000"/>
          </a:xfrm>
          <a:prstGeom prst="rect">
            <a:avLst/>
          </a:prstGeom>
          <a:solidFill>
            <a:srgbClr val="0D1B3E"/>
          </a:solidFill>
          <a:ln>
            <a:solidFill>
              <a:srgbClr val="0D1B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9436608" y="3108960"/>
            <a:ext cx="1060704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D0D8E8"/>
                </a:solidFill>
              </a:rPr>
              <a:t>Generates 3-4 enriched DuckDuckGo search strings</a:t>
            </a:r>
          </a:p>
        </p:txBody>
      </p:sp>
      <p:sp>
        <p:nvSpPr>
          <p:cNvPr id="56" name="Rectangle 55"/>
          <p:cNvSpPr/>
          <p:nvPr/>
        </p:nvSpPr>
        <p:spPr>
          <a:xfrm>
            <a:off x="10661904" y="3035808"/>
            <a:ext cx="1188720" cy="2286000"/>
          </a:xfrm>
          <a:prstGeom prst="rect">
            <a:avLst/>
          </a:prstGeom>
          <a:solidFill>
            <a:srgbClr val="0D1B3E"/>
          </a:solidFill>
          <a:ln>
            <a:solidFill>
              <a:srgbClr val="0D1B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10725912" y="3108960"/>
            <a:ext cx="1060704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D0D8E8"/>
                </a:solidFill>
              </a:rPr>
              <a:t>Informational message if normalised query differs from raw input</a:t>
            </a:r>
          </a:p>
        </p:txBody>
      </p:sp>
      <p:sp>
        <p:nvSpPr>
          <p:cNvPr id="58" name="Rectangle 57"/>
          <p:cNvSpPr/>
          <p:nvPr/>
        </p:nvSpPr>
        <p:spPr>
          <a:xfrm>
            <a:off x="347472" y="5468112"/>
            <a:ext cx="11503152" cy="1280160"/>
          </a:xfrm>
          <a:prstGeom prst="rect">
            <a:avLst/>
          </a:prstGeom>
          <a:solidFill>
            <a:srgbClr val="142A5A"/>
          </a:solidFill>
          <a:ln>
            <a:solidFill>
              <a:srgbClr val="142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548640" y="553212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B4D8"/>
                </a:solidFill>
              </a:rPr>
              <a:t>Domain-Protected Spell Correction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48640" y="5925312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D0D8E8"/>
                </a:solidFill>
              </a:rPr>
              <a:t>150+ tech terms whitelisted  (pytorch, sklearn, tensorflow, …)
Without protection: pytorch→portrait  |  sklearn→slain  |  numpy→grumpy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1078992"/>
            <a:ext cx="11274552" cy="5029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11274552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0B4D8"/>
                </a:solidFill>
              </a:rPr>
              <a:t>User Profiling &amp; Live Search Integration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98448"/>
            <a:ext cx="5486400" cy="5120640"/>
          </a:xfrm>
          <a:prstGeom prst="rect">
            <a:avLst/>
          </a:prstGeom>
          <a:solidFill>
            <a:srgbClr val="142A5A"/>
          </a:solidFill>
          <a:ln>
            <a:solidFill>
              <a:srgbClr val="142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89888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0B4D8"/>
                </a:solidFill>
              </a:rPr>
              <a:t>Adaptive User Profiling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847088"/>
            <a:ext cx="5120640" cy="4434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200">
                <a:solidFill>
                  <a:srgbClr val="D0D8E8"/>
                </a:solidFill>
              </a:rPr>
              <a:t>▸ Per-user JSON profile created on first visit — no rated history needed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D0D8E8"/>
                </a:solidFill>
              </a:rPr>
              <a:t>▸ Stores: 50 recent searches · 50 bookmarked courses · topic frequency weights · difficulty counts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D0D8E8"/>
                </a:solidFill>
              </a:rPr>
              <a:t>▸ Recency-Weighted Topics: +1.0 (first encounter) / +0.5 (repeat) — capped at 100 entries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D0D8E8"/>
                </a:solidFill>
              </a:rPr>
              <a:t>▸ Short-Query Enrichment: 1-word query → +2 profile terms; 3-word → +1 term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D0D8E8"/>
                </a:solidFill>
              </a:rPr>
              <a:t>▸ Difficulty Auto-Adaptation: argmax over difficulty counts → preferred level applied to future suggestions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D0D8E8"/>
                </a:solidFill>
              </a:rPr>
              <a:t>▸ Implicit personalisation from observed behaviour — no explicit ratings required</a:t>
            </a:r>
          </a:p>
        </p:txBody>
      </p:sp>
      <p:sp>
        <p:nvSpPr>
          <p:cNvPr id="7" name="Rectangle 6"/>
          <p:cNvSpPr/>
          <p:nvPr/>
        </p:nvSpPr>
        <p:spPr>
          <a:xfrm>
            <a:off x="6172200" y="1298448"/>
            <a:ext cx="5559552" cy="5120640"/>
          </a:xfrm>
          <a:prstGeom prst="rect">
            <a:avLst/>
          </a:prstGeom>
          <a:solidFill>
            <a:srgbClr val="142A5A"/>
          </a:solidFill>
          <a:ln>
            <a:solidFill>
              <a:srgbClr val="142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355080" y="1389888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D166"/>
                </a:solidFill>
              </a:rPr>
              <a:t>Live Search Integration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55080" y="1847088"/>
            <a:ext cx="5212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200">
                <a:solidFill>
                  <a:srgbClr val="D0D8E8"/>
                </a:solidFill>
              </a:rPr>
              <a:t>❗ Problem: static corpus grows stale as new courses appear daily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55080" y="2423160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DuckDuckGo Content Filtering: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55080" y="2788920"/>
            <a:ext cx="52120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200">
                <a:solidFill>
                  <a:srgbClr val="D0D8E8"/>
                </a:solidFill>
              </a:rPr>
              <a:t>✗ Reject listicles (10 Best… pattern)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D0D8E8"/>
                </a:solidFill>
              </a:rPr>
              <a:t>✗ Blacklist: reddit, medium, quora, twitter, linkedin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D0D8E8"/>
                </a:solidFill>
              </a:rPr>
              <a:t>✗ Drop results with no course-describing words in title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55080" y="3858768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On-the-Fly Re-Ranking: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55080" y="4224528"/>
            <a:ext cx="52120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D0D8E8"/>
                </a:solidFill>
              </a:rPr>
              <a:t>simₗᵢᵥₑ(q, rⱼ) = cos(TFIDF(q), TFIDF(titleⱼ ⊕ snippetⱼ))
Fresh vectoriser fit on result set — never contaminates corpus vocabulary.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55080" y="5074920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24-Hour Disk Caching: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55080" y="5440680"/>
            <a:ext cx="52120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D0D8E8"/>
                </a:solidFill>
              </a:rPr>
              <a:t>cache_key = MD5(normalised_query)
Eliminates redundant API round-trips · reduces latency · avoids rate-limit exposure.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1078992"/>
            <a:ext cx="11274552" cy="5029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11274552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0B4D8"/>
                </a:solidFill>
              </a:rPr>
              <a:t>Evaluation Methodology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112745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90E0EF"/>
                </a:solidFill>
              </a:rPr>
              <a:t>IR metrics at K = 5 with fuzzy relevance matching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98448"/>
            <a:ext cx="5394960" cy="5120640"/>
          </a:xfrm>
          <a:prstGeom prst="rect">
            <a:avLst/>
          </a:prstGeom>
          <a:solidFill>
            <a:srgbClr val="142A5A"/>
          </a:solidFill>
          <a:ln>
            <a:solidFill>
              <a:srgbClr val="142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389888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B4D8"/>
                </a:solidFill>
              </a:rPr>
              <a:t>Ground-Truth Test Set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783080"/>
            <a:ext cx="502920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D0D8E8"/>
                </a:solidFill>
              </a:rPr>
              <a:t>10 manually chosen queries spanning diverse topics,
difficulty levels, and query types (NL constraints,
compound technical, abbreviated inputs).
Expert review → 2–5 relevant courses per query.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2907792"/>
            <a:ext cx="5394960" cy="329184"/>
          </a:xfrm>
          <a:prstGeom prst="rect">
            <a:avLst/>
          </a:prstGeom>
          <a:solidFill>
            <a:srgbClr val="142A5A"/>
          </a:solidFill>
          <a:ln>
            <a:solidFill>
              <a:srgbClr val="142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2944368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D166"/>
                </a:solidFill>
              </a:rPr>
              <a:t>Q1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2944368"/>
            <a:ext cx="3840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python programming for beginners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17720" y="2944368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06D6A0"/>
                </a:solidFill>
              </a:rPr>
              <a:t>Rel:4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3255264"/>
            <a:ext cx="5394960" cy="329184"/>
          </a:xfrm>
          <a:prstGeom prst="rect">
            <a:avLst/>
          </a:prstGeom>
          <a:solidFill>
            <a:srgbClr val="0D1B3E"/>
          </a:solidFill>
          <a:ln>
            <a:solidFill>
              <a:srgbClr val="0D1B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94360" y="329184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D166"/>
                </a:solidFill>
              </a:rPr>
              <a:t>Q2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80160" y="3291840"/>
            <a:ext cx="3840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machine learning no math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17720" y="329184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06D6A0"/>
                </a:solidFill>
              </a:rPr>
              <a:t>Rel:5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3602736"/>
            <a:ext cx="5394960" cy="329184"/>
          </a:xfrm>
          <a:prstGeom prst="rect">
            <a:avLst/>
          </a:prstGeom>
          <a:solidFill>
            <a:srgbClr val="142A5A"/>
          </a:solidFill>
          <a:ln>
            <a:solidFill>
              <a:srgbClr val="142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94360" y="3639312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D166"/>
                </a:solidFill>
              </a:rPr>
              <a:t>Q3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80160" y="3639312"/>
            <a:ext cx="3840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data science with python &amp; statistics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17720" y="3639312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06D6A0"/>
                </a:solidFill>
              </a:rPr>
              <a:t>Rel:4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3950208"/>
            <a:ext cx="5394960" cy="329184"/>
          </a:xfrm>
          <a:prstGeom prst="rect">
            <a:avLst/>
          </a:prstGeom>
          <a:solidFill>
            <a:srgbClr val="0D1B3E"/>
          </a:solidFill>
          <a:ln>
            <a:solidFill>
              <a:srgbClr val="0D1B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94360" y="3986784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D166"/>
                </a:solidFill>
              </a:rPr>
              <a:t>Q4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80160" y="3986784"/>
            <a:ext cx="3840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deep learning neural networks advanced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617720" y="3986784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06D6A0"/>
                </a:solidFill>
              </a:rPr>
              <a:t>Rel:3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4297680"/>
            <a:ext cx="5394960" cy="329184"/>
          </a:xfrm>
          <a:prstGeom prst="rect">
            <a:avLst/>
          </a:prstGeom>
          <a:solidFill>
            <a:srgbClr val="142A5A"/>
          </a:solidFill>
          <a:ln>
            <a:solidFill>
              <a:srgbClr val="142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94360" y="4334256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D166"/>
                </a:solidFill>
              </a:rPr>
              <a:t>Q5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280160" y="4334256"/>
            <a:ext cx="3840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web development html css javascript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617720" y="4334256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06D6A0"/>
                </a:solidFill>
              </a:rPr>
              <a:t>Rel:5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57200" y="4645152"/>
            <a:ext cx="5394960" cy="329184"/>
          </a:xfrm>
          <a:prstGeom prst="rect">
            <a:avLst/>
          </a:prstGeom>
          <a:solidFill>
            <a:srgbClr val="0D1B3E"/>
          </a:solidFill>
          <a:ln>
            <a:solidFill>
              <a:srgbClr val="0D1B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94360" y="4681728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D166"/>
                </a:solidFill>
              </a:rPr>
              <a:t>Q6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280160" y="4681728"/>
            <a:ext cx="3840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sql database management beginners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617720" y="4681728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06D6A0"/>
                </a:solidFill>
              </a:rPr>
              <a:t>Rel:3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57200" y="4992624"/>
            <a:ext cx="5394960" cy="329184"/>
          </a:xfrm>
          <a:prstGeom prst="rect">
            <a:avLst/>
          </a:prstGeom>
          <a:solidFill>
            <a:srgbClr val="142A5A"/>
          </a:solidFill>
          <a:ln>
            <a:solidFill>
              <a:srgbClr val="142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94360" y="502920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D166"/>
                </a:solidFill>
              </a:rPr>
              <a:t>Q7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280160" y="5029200"/>
            <a:ext cx="3840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NLP text analysis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617720" y="502920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06D6A0"/>
                </a:solidFill>
              </a:rPr>
              <a:t>Rel:4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57200" y="5340096"/>
            <a:ext cx="5394960" cy="329184"/>
          </a:xfrm>
          <a:prstGeom prst="rect">
            <a:avLst/>
          </a:prstGeom>
          <a:solidFill>
            <a:srgbClr val="0D1B3E"/>
          </a:solidFill>
          <a:ln>
            <a:solidFill>
              <a:srgbClr val="0D1B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94360" y="5376672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D166"/>
                </a:solidFill>
              </a:rPr>
              <a:t>Q8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280160" y="5376672"/>
            <a:ext cx="3840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cloud devops docker kubernetes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617720" y="5376672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06D6A0"/>
                </a:solidFill>
              </a:rPr>
              <a:t>Rel:4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57200" y="5687568"/>
            <a:ext cx="5394960" cy="329184"/>
          </a:xfrm>
          <a:prstGeom prst="rect">
            <a:avLst/>
          </a:prstGeom>
          <a:solidFill>
            <a:srgbClr val="142A5A"/>
          </a:solidFill>
          <a:ln>
            <a:solidFill>
              <a:srgbClr val="142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94360" y="5724144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D166"/>
                </a:solidFill>
              </a:rPr>
              <a:t>Q9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280160" y="5724144"/>
            <a:ext cx="3840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linear algebra calculus for ML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617720" y="5724144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06D6A0"/>
                </a:solidFill>
              </a:rPr>
              <a:t>Rel:3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57200" y="6035040"/>
            <a:ext cx="5394960" cy="329184"/>
          </a:xfrm>
          <a:prstGeom prst="rect">
            <a:avLst/>
          </a:prstGeom>
          <a:solidFill>
            <a:srgbClr val="0D1B3E"/>
          </a:solidFill>
          <a:ln>
            <a:solidFill>
              <a:srgbClr val="0D1B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94360" y="6071616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D166"/>
                </a:solidFill>
              </a:rPr>
              <a:t>Q10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280160" y="6071616"/>
            <a:ext cx="3840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recommendation systems CF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617720" y="6071616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06D6A0"/>
                </a:solidFill>
              </a:rPr>
              <a:t>Rel:2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080760" y="1298448"/>
            <a:ext cx="5650992" cy="5120640"/>
          </a:xfrm>
          <a:prstGeom prst="rect">
            <a:avLst/>
          </a:prstGeom>
          <a:solidFill>
            <a:srgbClr val="142A5A"/>
          </a:solidFill>
          <a:ln>
            <a:solidFill>
              <a:srgbClr val="142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263640" y="1389888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D166"/>
                </a:solidFill>
              </a:rPr>
              <a:t>Metrics &amp; Fuzzy Matching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263640" y="1828800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Fuzzy Relevance Score: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263640" y="2176272"/>
            <a:ext cx="53035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0D8E8"/>
                </a:solidFill>
              </a:rPr>
              <a:t>m(p,r) = 0.6·Jtoken(p,r) + 0.4·SequenceMatcher(p,r)
Threshold θ = 0.55  |  Substring bonus → max(SM, Jtoken, 0.9)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263640" y="3063240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IR Metrics at K=5:</a:t>
            </a:r>
          </a:p>
        </p:txBody>
      </p:sp>
      <p:sp>
        <p:nvSpPr>
          <p:cNvPr id="53" name="Rectangle 52"/>
          <p:cNvSpPr/>
          <p:nvPr/>
        </p:nvSpPr>
        <p:spPr>
          <a:xfrm>
            <a:off x="6263640" y="3456432"/>
            <a:ext cx="5303520" cy="365760"/>
          </a:xfrm>
          <a:prstGeom prst="rect">
            <a:avLst/>
          </a:prstGeom>
          <a:solidFill>
            <a:srgbClr val="0D1B3E"/>
          </a:solidFill>
          <a:ln>
            <a:solidFill>
              <a:srgbClr val="0D1B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6382512" y="3511296"/>
            <a:ext cx="5074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0B4D8"/>
                </a:solidFill>
              </a:rPr>
              <a:t>Precision@K  =  |Relevant ∩ Retrieved₁:ₖ| / K</a:t>
            </a:r>
          </a:p>
        </p:txBody>
      </p:sp>
      <p:sp>
        <p:nvSpPr>
          <p:cNvPr id="55" name="Rectangle 54"/>
          <p:cNvSpPr/>
          <p:nvPr/>
        </p:nvSpPr>
        <p:spPr>
          <a:xfrm>
            <a:off x="6263640" y="3858768"/>
            <a:ext cx="5303520" cy="365760"/>
          </a:xfrm>
          <a:prstGeom prst="rect">
            <a:avLst/>
          </a:prstGeom>
          <a:solidFill>
            <a:srgbClr val="0D1B3E"/>
          </a:solidFill>
          <a:ln>
            <a:solidFill>
              <a:srgbClr val="0D1B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6382512" y="3913631"/>
            <a:ext cx="5074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0B4D8"/>
                </a:solidFill>
              </a:rPr>
              <a:t>Recall@K     =  |Relevant ∩ Retrieved₁:ₖ| / |Relevant|</a:t>
            </a:r>
          </a:p>
        </p:txBody>
      </p:sp>
      <p:sp>
        <p:nvSpPr>
          <p:cNvPr id="57" name="Rectangle 56"/>
          <p:cNvSpPr/>
          <p:nvPr/>
        </p:nvSpPr>
        <p:spPr>
          <a:xfrm>
            <a:off x="6263640" y="4261104"/>
            <a:ext cx="5303520" cy="365760"/>
          </a:xfrm>
          <a:prstGeom prst="rect">
            <a:avLst/>
          </a:prstGeom>
          <a:solidFill>
            <a:srgbClr val="0D1B3E"/>
          </a:solidFill>
          <a:ln>
            <a:solidFill>
              <a:srgbClr val="0D1B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6382512" y="4315968"/>
            <a:ext cx="5074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0B4D8"/>
                </a:solidFill>
              </a:rPr>
              <a:t>F1@K         =  2·P@K·R@K / (P@K + R@K)</a:t>
            </a:r>
          </a:p>
        </p:txBody>
      </p:sp>
      <p:sp>
        <p:nvSpPr>
          <p:cNvPr id="59" name="Rectangle 58"/>
          <p:cNvSpPr/>
          <p:nvPr/>
        </p:nvSpPr>
        <p:spPr>
          <a:xfrm>
            <a:off x="6263640" y="4663440"/>
            <a:ext cx="5303520" cy="365760"/>
          </a:xfrm>
          <a:prstGeom prst="rect">
            <a:avLst/>
          </a:prstGeom>
          <a:solidFill>
            <a:srgbClr val="0D1B3E"/>
          </a:solidFill>
          <a:ln>
            <a:solidFill>
              <a:srgbClr val="0D1B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6382512" y="4718303"/>
            <a:ext cx="5074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0B4D8"/>
                </a:solidFill>
              </a:rPr>
              <a:t>Δₘ           =  (mNLP − mKW) / mKW × 100%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263640" y="5138928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D0D8E8"/>
                </a:solidFill>
              </a:rPr>
              <a:t>Future metrics (not yet computed):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6263640" y="548640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0E0EF"/>
                </a:solidFill>
              </a:rPr>
              <a:t>NDCG@K = DCG@K / IDCG@K     ·     MRR = (1/|Q|) Σ 1/rank_q^first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1078992"/>
            <a:ext cx="11274552" cy="5029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11274552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0B4D8"/>
                </a:solidFill>
              </a:rPr>
              <a:t>Results — NLPRec vs. Keyword Baseline (K = 5)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80160"/>
            <a:ext cx="2505456" cy="2011680"/>
          </a:xfrm>
          <a:prstGeom prst="rect">
            <a:avLst/>
          </a:prstGeom>
          <a:solidFill>
            <a:srgbClr val="142A5A"/>
          </a:solidFill>
          <a:ln>
            <a:solidFill>
              <a:srgbClr val="142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353312"/>
            <a:ext cx="232257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0B4D8"/>
                </a:solidFill>
              </a:rPr>
              <a:t>Precision@5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719072"/>
            <a:ext cx="2322576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00B4D8"/>
                </a:solidFill>
              </a:rPr>
              <a:t>0.72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377440"/>
            <a:ext cx="232257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</a:rPr>
              <a:t>NLPRec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670048"/>
            <a:ext cx="2322576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696D"/>
                </a:solidFill>
              </a:rPr>
              <a:t>KW: 0.42  →  Δ +71.4%</a:t>
            </a:r>
          </a:p>
        </p:txBody>
      </p:sp>
      <p:sp>
        <p:nvSpPr>
          <p:cNvPr id="9" name="Rectangle 8"/>
          <p:cNvSpPr/>
          <p:nvPr/>
        </p:nvSpPr>
        <p:spPr>
          <a:xfrm>
            <a:off x="3182112" y="1280160"/>
            <a:ext cx="2505456" cy="2011680"/>
          </a:xfrm>
          <a:prstGeom prst="rect">
            <a:avLst/>
          </a:prstGeom>
          <a:solidFill>
            <a:srgbClr val="142A5A"/>
          </a:solidFill>
          <a:ln>
            <a:solidFill>
              <a:srgbClr val="142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273552" y="1353312"/>
            <a:ext cx="232257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6D6A0"/>
                </a:solidFill>
              </a:rPr>
              <a:t>Recall@5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73552" y="1719072"/>
            <a:ext cx="2322576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06D6A0"/>
                </a:solidFill>
              </a:rPr>
              <a:t>0.98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73552" y="2377440"/>
            <a:ext cx="232257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</a:rPr>
              <a:t>NLPRec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73552" y="2670048"/>
            <a:ext cx="2322576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696D"/>
                </a:solidFill>
              </a:rPr>
              <a:t>KW: 0.57  →  Δ +71.9%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907024" y="1280160"/>
            <a:ext cx="2505456" cy="2011680"/>
          </a:xfrm>
          <a:prstGeom prst="rect">
            <a:avLst/>
          </a:prstGeom>
          <a:solidFill>
            <a:srgbClr val="142A5A"/>
          </a:solidFill>
          <a:ln>
            <a:solidFill>
              <a:srgbClr val="142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998464" y="1353312"/>
            <a:ext cx="232257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D166"/>
                </a:solidFill>
              </a:rPr>
              <a:t>F1@5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98464" y="1719072"/>
            <a:ext cx="2322576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FFD166"/>
                </a:solidFill>
              </a:rPr>
              <a:t>0.82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98464" y="2377440"/>
            <a:ext cx="232257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</a:rPr>
              <a:t>NLPRec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98464" y="2670048"/>
            <a:ext cx="2322576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696D"/>
                </a:solidFill>
              </a:rPr>
              <a:t>KW: 0.48  →  Δ +70.8%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3456432"/>
            <a:ext cx="11274552" cy="347472"/>
          </a:xfrm>
          <a:prstGeom prst="rect">
            <a:avLst/>
          </a:prstGeom>
          <a:solidFill>
            <a:srgbClr val="00B4D8"/>
          </a:solidFill>
          <a:ln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2920" y="3502152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D1B3E"/>
                </a:solidFill>
              </a:rPr>
              <a:t>Query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423160" y="3502152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D1B3E"/>
                </a:solidFill>
              </a:rPr>
              <a:t>P@5 NLP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794760" y="3502152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D1B3E"/>
                </a:solidFill>
              </a:rPr>
              <a:t>P@5 KW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166360" y="3502152"/>
            <a:ext cx="1417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D1B3E"/>
                </a:solidFill>
              </a:rPr>
              <a:t>R@5 NLP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83680" y="3502152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D1B3E"/>
                </a:solidFill>
              </a:rPr>
              <a:t>R@5 KW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955279" y="3502152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D1B3E"/>
                </a:solidFill>
              </a:rPr>
              <a:t>F1@5 NLP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418319" y="3502152"/>
            <a:ext cx="1417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D1B3E"/>
                </a:solidFill>
              </a:rPr>
              <a:t>F1@5 KW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7200" y="3822191"/>
            <a:ext cx="11274552" cy="256032"/>
          </a:xfrm>
          <a:prstGeom prst="rect">
            <a:avLst/>
          </a:prstGeom>
          <a:solidFill>
            <a:srgbClr val="0D1B3E"/>
          </a:solidFill>
          <a:ln>
            <a:solidFill>
              <a:srgbClr val="0D1B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02920" y="3858768"/>
            <a:ext cx="19202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Q1 — Python basics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423160" y="3858768"/>
            <a:ext cx="1371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00B4D8"/>
                </a:solidFill>
              </a:rPr>
              <a:t>0.80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794760" y="3858768"/>
            <a:ext cx="1371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F696D"/>
                </a:solidFill>
              </a:rPr>
              <a:t>0.60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166360" y="3858768"/>
            <a:ext cx="1417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00B4D8"/>
                </a:solidFill>
              </a:rPr>
              <a:t>1.00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83680" y="3858768"/>
            <a:ext cx="1371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F696D"/>
                </a:solidFill>
              </a:rPr>
              <a:t>0.75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955279" y="3858768"/>
            <a:ext cx="14630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00B4D8"/>
                </a:solidFill>
              </a:rPr>
              <a:t>0.89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418319" y="3858768"/>
            <a:ext cx="1417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F696D"/>
                </a:solidFill>
              </a:rPr>
              <a:t>0.67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57200" y="4087368"/>
            <a:ext cx="11274552" cy="256032"/>
          </a:xfrm>
          <a:prstGeom prst="rect">
            <a:avLst/>
          </a:prstGeom>
          <a:solidFill>
            <a:srgbClr val="142A5A"/>
          </a:solidFill>
          <a:ln>
            <a:solidFill>
              <a:srgbClr val="142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02920" y="4123944"/>
            <a:ext cx="19202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Q2 — ML no math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423160" y="4123944"/>
            <a:ext cx="1371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00B4D8"/>
                </a:solidFill>
              </a:rPr>
              <a:t>0.80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794760" y="4123944"/>
            <a:ext cx="1371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F696D"/>
                </a:solidFill>
              </a:rPr>
              <a:t>0.40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166360" y="4123944"/>
            <a:ext cx="1417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00B4D8"/>
                </a:solidFill>
              </a:rPr>
              <a:t>0.80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583680" y="4123944"/>
            <a:ext cx="1371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F696D"/>
                </a:solidFill>
              </a:rPr>
              <a:t>0.40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955279" y="4123944"/>
            <a:ext cx="14630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00B4D8"/>
                </a:solidFill>
              </a:rPr>
              <a:t>0.80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418319" y="4123944"/>
            <a:ext cx="1417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F696D"/>
                </a:solidFill>
              </a:rPr>
              <a:t>0.40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57200" y="4352544"/>
            <a:ext cx="11274552" cy="256032"/>
          </a:xfrm>
          <a:prstGeom prst="rect">
            <a:avLst/>
          </a:prstGeom>
          <a:solidFill>
            <a:srgbClr val="0D1B3E"/>
          </a:solidFill>
          <a:ln>
            <a:solidFill>
              <a:srgbClr val="0D1B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502920" y="4389120"/>
            <a:ext cx="19202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Q3 — Data science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423160" y="4389120"/>
            <a:ext cx="1371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00B4D8"/>
                </a:solidFill>
              </a:rPr>
              <a:t>0.80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794760" y="4389120"/>
            <a:ext cx="1371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F696D"/>
                </a:solidFill>
              </a:rPr>
              <a:t>0.60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166360" y="4389120"/>
            <a:ext cx="1417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00B4D8"/>
                </a:solidFill>
              </a:rPr>
              <a:t>1.00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583680" y="4389120"/>
            <a:ext cx="1371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F696D"/>
                </a:solidFill>
              </a:rPr>
              <a:t>0.75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955279" y="4389120"/>
            <a:ext cx="14630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00B4D8"/>
                </a:solidFill>
              </a:rPr>
              <a:t>0.89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418319" y="4389120"/>
            <a:ext cx="1417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F696D"/>
                </a:solidFill>
              </a:rPr>
              <a:t>0.67</a:t>
            </a:r>
          </a:p>
        </p:txBody>
      </p:sp>
      <p:sp>
        <p:nvSpPr>
          <p:cNvPr id="51" name="Rectangle 50"/>
          <p:cNvSpPr/>
          <p:nvPr/>
        </p:nvSpPr>
        <p:spPr>
          <a:xfrm>
            <a:off x="457200" y="4617720"/>
            <a:ext cx="11274552" cy="256032"/>
          </a:xfrm>
          <a:prstGeom prst="rect">
            <a:avLst/>
          </a:prstGeom>
          <a:solidFill>
            <a:srgbClr val="142A5A"/>
          </a:solidFill>
          <a:ln>
            <a:solidFill>
              <a:srgbClr val="142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502920" y="4654296"/>
            <a:ext cx="19202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Q4 — Deep learning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2423160" y="4654296"/>
            <a:ext cx="1371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00B4D8"/>
                </a:solidFill>
              </a:rPr>
              <a:t>0.60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3794760" y="4654296"/>
            <a:ext cx="1371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F696D"/>
                </a:solidFill>
              </a:rPr>
              <a:t>0.40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5166360" y="4654296"/>
            <a:ext cx="1417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00B4D8"/>
                </a:solidFill>
              </a:rPr>
              <a:t>1.00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583680" y="4654296"/>
            <a:ext cx="1371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F696D"/>
                </a:solidFill>
              </a:rPr>
              <a:t>0.67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7955279" y="4654296"/>
            <a:ext cx="14630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00B4D8"/>
                </a:solidFill>
              </a:rPr>
              <a:t>0.75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9418319" y="4654296"/>
            <a:ext cx="1417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F696D"/>
                </a:solidFill>
              </a:rPr>
              <a:t>0.50</a:t>
            </a:r>
          </a:p>
        </p:txBody>
      </p:sp>
      <p:sp>
        <p:nvSpPr>
          <p:cNvPr id="59" name="Rectangle 58"/>
          <p:cNvSpPr/>
          <p:nvPr/>
        </p:nvSpPr>
        <p:spPr>
          <a:xfrm>
            <a:off x="457200" y="4882896"/>
            <a:ext cx="11274552" cy="256032"/>
          </a:xfrm>
          <a:prstGeom prst="rect">
            <a:avLst/>
          </a:prstGeom>
          <a:solidFill>
            <a:srgbClr val="0D1B3E"/>
          </a:solidFill>
          <a:ln>
            <a:solidFill>
              <a:srgbClr val="0D1B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502920" y="4919472"/>
            <a:ext cx="19202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Q5 — Web dev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2423160" y="4919472"/>
            <a:ext cx="1371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00B4D8"/>
                </a:solidFill>
              </a:rPr>
              <a:t>1.00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3794760" y="4919472"/>
            <a:ext cx="1371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F696D"/>
                </a:solidFill>
              </a:rPr>
              <a:t>0.60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5166360" y="4919472"/>
            <a:ext cx="1417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00B4D8"/>
                </a:solidFill>
              </a:rPr>
              <a:t>1.00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6583680" y="4919472"/>
            <a:ext cx="1371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F696D"/>
                </a:solidFill>
              </a:rPr>
              <a:t>0.60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7955279" y="4919472"/>
            <a:ext cx="14630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00B4D8"/>
                </a:solidFill>
              </a:rPr>
              <a:t>1.00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9418319" y="4919472"/>
            <a:ext cx="1417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F696D"/>
                </a:solidFill>
              </a:rPr>
              <a:t>0.60</a:t>
            </a:r>
          </a:p>
        </p:txBody>
      </p:sp>
      <p:sp>
        <p:nvSpPr>
          <p:cNvPr id="67" name="Rectangle 66"/>
          <p:cNvSpPr/>
          <p:nvPr/>
        </p:nvSpPr>
        <p:spPr>
          <a:xfrm>
            <a:off x="457200" y="5148072"/>
            <a:ext cx="11274552" cy="256032"/>
          </a:xfrm>
          <a:prstGeom prst="rect">
            <a:avLst/>
          </a:prstGeom>
          <a:solidFill>
            <a:srgbClr val="142A5A"/>
          </a:solidFill>
          <a:ln>
            <a:solidFill>
              <a:srgbClr val="142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502920" y="5184648"/>
            <a:ext cx="19202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Q6 — SQL beginner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2423160" y="5184648"/>
            <a:ext cx="1371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00B4D8"/>
                </a:solidFill>
              </a:rPr>
              <a:t>0.60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3794760" y="5184648"/>
            <a:ext cx="1371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F696D"/>
                </a:solidFill>
              </a:rPr>
              <a:t>0.40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5166360" y="5184648"/>
            <a:ext cx="1417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00B4D8"/>
                </a:solidFill>
              </a:rPr>
              <a:t>1.00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6583680" y="5184648"/>
            <a:ext cx="1371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F696D"/>
                </a:solidFill>
              </a:rPr>
              <a:t>0.67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7955279" y="5184648"/>
            <a:ext cx="14630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00B4D8"/>
                </a:solidFill>
              </a:rPr>
              <a:t>0.75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9418319" y="5184648"/>
            <a:ext cx="1417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F696D"/>
                </a:solidFill>
              </a:rPr>
              <a:t>0.50</a:t>
            </a:r>
          </a:p>
        </p:txBody>
      </p:sp>
      <p:sp>
        <p:nvSpPr>
          <p:cNvPr id="75" name="Rectangle 74"/>
          <p:cNvSpPr/>
          <p:nvPr/>
        </p:nvSpPr>
        <p:spPr>
          <a:xfrm>
            <a:off x="457200" y="5413248"/>
            <a:ext cx="11274552" cy="256032"/>
          </a:xfrm>
          <a:prstGeom prst="rect">
            <a:avLst/>
          </a:prstGeom>
          <a:solidFill>
            <a:srgbClr val="0D1B3E"/>
          </a:solidFill>
          <a:ln>
            <a:solidFill>
              <a:srgbClr val="0D1B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502920" y="5449824"/>
            <a:ext cx="19202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Q7 — NLP analysis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2423160" y="5449824"/>
            <a:ext cx="1371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00B4D8"/>
                </a:solidFill>
              </a:rPr>
              <a:t>0.80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3794760" y="5449824"/>
            <a:ext cx="1371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F696D"/>
                </a:solidFill>
              </a:rPr>
              <a:t>0.40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5166360" y="5449824"/>
            <a:ext cx="1417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00B4D8"/>
                </a:solidFill>
              </a:rPr>
              <a:t>1.00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6583680" y="5449824"/>
            <a:ext cx="1371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F696D"/>
                </a:solidFill>
              </a:rPr>
              <a:t>0.50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7955279" y="5449824"/>
            <a:ext cx="14630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00B4D8"/>
                </a:solidFill>
              </a:rPr>
              <a:t>0.89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9418319" y="5449824"/>
            <a:ext cx="1417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F696D"/>
                </a:solidFill>
              </a:rPr>
              <a:t>0.44</a:t>
            </a:r>
          </a:p>
        </p:txBody>
      </p:sp>
      <p:sp>
        <p:nvSpPr>
          <p:cNvPr id="83" name="Rectangle 82"/>
          <p:cNvSpPr/>
          <p:nvPr/>
        </p:nvSpPr>
        <p:spPr>
          <a:xfrm>
            <a:off x="457200" y="5678423"/>
            <a:ext cx="11274552" cy="256032"/>
          </a:xfrm>
          <a:prstGeom prst="rect">
            <a:avLst/>
          </a:prstGeom>
          <a:solidFill>
            <a:srgbClr val="142A5A"/>
          </a:solidFill>
          <a:ln>
            <a:solidFill>
              <a:srgbClr val="142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502920" y="5714999"/>
            <a:ext cx="19202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Q8 — Cloud/DevOps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2423160" y="5714999"/>
            <a:ext cx="1371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00B4D8"/>
                </a:solidFill>
              </a:rPr>
              <a:t>0.80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3794760" y="5714999"/>
            <a:ext cx="1371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F696D"/>
                </a:solidFill>
              </a:rPr>
              <a:t>0.40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5166360" y="5714999"/>
            <a:ext cx="1417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00B4D8"/>
                </a:solidFill>
              </a:rPr>
              <a:t>1.00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6583680" y="5714999"/>
            <a:ext cx="1371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F696D"/>
                </a:solidFill>
              </a:rPr>
              <a:t>0.50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7955279" y="5714999"/>
            <a:ext cx="14630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00B4D8"/>
                </a:solidFill>
              </a:rPr>
              <a:t>0.89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9418319" y="5714999"/>
            <a:ext cx="1417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F696D"/>
                </a:solidFill>
              </a:rPr>
              <a:t>0.44</a:t>
            </a:r>
          </a:p>
        </p:txBody>
      </p:sp>
      <p:sp>
        <p:nvSpPr>
          <p:cNvPr id="91" name="Rectangle 90"/>
          <p:cNvSpPr/>
          <p:nvPr/>
        </p:nvSpPr>
        <p:spPr>
          <a:xfrm>
            <a:off x="457200" y="5943600"/>
            <a:ext cx="11274552" cy="256032"/>
          </a:xfrm>
          <a:prstGeom prst="rect">
            <a:avLst/>
          </a:prstGeom>
          <a:solidFill>
            <a:srgbClr val="0D1B3E"/>
          </a:solidFill>
          <a:ln>
            <a:solidFill>
              <a:srgbClr val="0D1B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502920" y="5980176"/>
            <a:ext cx="19202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Q9 — Math for ML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2423160" y="5980176"/>
            <a:ext cx="1371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00B4D8"/>
                </a:solidFill>
              </a:rPr>
              <a:t>0.60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3794760" y="5980176"/>
            <a:ext cx="1371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F696D"/>
                </a:solidFill>
              </a:rPr>
              <a:t>0.20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5166360" y="5980176"/>
            <a:ext cx="1417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00B4D8"/>
                </a:solidFill>
              </a:rPr>
              <a:t>1.00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6583680" y="5980176"/>
            <a:ext cx="1371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F696D"/>
                </a:solidFill>
              </a:rPr>
              <a:t>0.33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7955279" y="5980176"/>
            <a:ext cx="14630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00B4D8"/>
                </a:solidFill>
              </a:rPr>
              <a:t>0.75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9418319" y="5980176"/>
            <a:ext cx="1417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F696D"/>
                </a:solidFill>
              </a:rPr>
              <a:t>0.25</a:t>
            </a:r>
          </a:p>
        </p:txBody>
      </p:sp>
      <p:sp>
        <p:nvSpPr>
          <p:cNvPr id="99" name="Rectangle 98"/>
          <p:cNvSpPr/>
          <p:nvPr/>
        </p:nvSpPr>
        <p:spPr>
          <a:xfrm>
            <a:off x="457200" y="6208775"/>
            <a:ext cx="11274552" cy="256032"/>
          </a:xfrm>
          <a:prstGeom prst="rect">
            <a:avLst/>
          </a:prstGeom>
          <a:solidFill>
            <a:srgbClr val="142A5A"/>
          </a:solidFill>
          <a:ln>
            <a:solidFill>
              <a:srgbClr val="142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TextBox 99"/>
          <p:cNvSpPr txBox="1"/>
          <p:nvPr/>
        </p:nvSpPr>
        <p:spPr>
          <a:xfrm>
            <a:off x="502920" y="6245351"/>
            <a:ext cx="19202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Q10 — RecSys/CF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2423160" y="6245351"/>
            <a:ext cx="1371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00B4D8"/>
                </a:solidFill>
              </a:rPr>
              <a:t>0.40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3794760" y="6245351"/>
            <a:ext cx="1371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F696D"/>
                </a:solidFill>
              </a:rPr>
              <a:t>0.20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5166360" y="6245351"/>
            <a:ext cx="1417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00B4D8"/>
                </a:solidFill>
              </a:rPr>
              <a:t>1.00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6583680" y="6245351"/>
            <a:ext cx="1371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F696D"/>
                </a:solidFill>
              </a:rPr>
              <a:t>0.50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7955279" y="6245351"/>
            <a:ext cx="14630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00B4D8"/>
                </a:solidFill>
              </a:rPr>
              <a:t>0.57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9418319" y="6245351"/>
            <a:ext cx="1417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F696D"/>
                </a:solidFill>
              </a:rPr>
              <a:t>0.29</a:t>
            </a:r>
          </a:p>
        </p:txBody>
      </p:sp>
      <p:sp>
        <p:nvSpPr>
          <p:cNvPr id="107" name="Rectangle 106"/>
          <p:cNvSpPr/>
          <p:nvPr/>
        </p:nvSpPr>
        <p:spPr>
          <a:xfrm>
            <a:off x="457200" y="6473952"/>
            <a:ext cx="11274552" cy="256032"/>
          </a:xfrm>
          <a:prstGeom prst="rect">
            <a:avLst/>
          </a:prstGeom>
          <a:solidFill>
            <a:srgbClr val="093526"/>
          </a:solidFill>
          <a:ln>
            <a:solidFill>
              <a:srgbClr val="0935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TextBox 107"/>
          <p:cNvSpPr txBox="1"/>
          <p:nvPr/>
        </p:nvSpPr>
        <p:spPr>
          <a:xfrm>
            <a:off x="502920" y="6510528"/>
            <a:ext cx="19202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6D6A0"/>
                </a:solidFill>
              </a:rPr>
              <a:t>Mean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2423160" y="6510528"/>
            <a:ext cx="1371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6D6A0"/>
                </a:solidFill>
              </a:rPr>
              <a:t>0.72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3794760" y="6510528"/>
            <a:ext cx="1371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0.42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5166360" y="6510528"/>
            <a:ext cx="1417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6D6A0"/>
                </a:solidFill>
              </a:rPr>
              <a:t>0.98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6583680" y="6510528"/>
            <a:ext cx="1371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0.57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7955279" y="6510528"/>
            <a:ext cx="14630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6D6A0"/>
                </a:solidFill>
              </a:rPr>
              <a:t>0.82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9418319" y="6510528"/>
            <a:ext cx="1417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0.48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1078992"/>
            <a:ext cx="11274552" cy="5029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11274552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0B4D8"/>
                </a:solidFill>
              </a:rPr>
              <a:t>Key Findings &amp; Analysis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98448"/>
            <a:ext cx="5559552" cy="2487168"/>
          </a:xfrm>
          <a:prstGeom prst="rect">
            <a:avLst/>
          </a:prstGeom>
          <a:solidFill>
            <a:srgbClr val="142A5A"/>
          </a:solidFill>
          <a:ln>
            <a:solidFill>
              <a:srgbClr val="142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89888"/>
            <a:ext cx="519379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B4D8"/>
                </a:solidFill>
              </a:rPr>
              <a:t>Multi-Constraint Query Effect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801368"/>
            <a:ext cx="5193792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100">
                <a:solidFill>
                  <a:srgbClr val="D0D8E8"/>
                </a:solidFill>
              </a:rPr>
              <a:t>▸ Q2 (ML no math): keyword 0.40 → NLPRec 0.80 — doubled performance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D0D8E8"/>
                </a:solidFill>
              </a:rPr>
              <a:t>▸ Difficulty-signal extraction (Stage 4) labels query as 'beginner'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D0D8E8"/>
                </a:solidFill>
              </a:rPr>
              <a:t>▸ Negation preservation keeps 'no' → TF-IDF matches beginner/no-heavy-math courses</a:t>
            </a:r>
          </a:p>
        </p:txBody>
      </p:sp>
      <p:sp>
        <p:nvSpPr>
          <p:cNvPr id="7" name="Rectangle 6"/>
          <p:cNvSpPr/>
          <p:nvPr/>
        </p:nvSpPr>
        <p:spPr>
          <a:xfrm>
            <a:off x="6172200" y="1298448"/>
            <a:ext cx="5559552" cy="2487168"/>
          </a:xfrm>
          <a:prstGeom prst="rect">
            <a:avLst/>
          </a:prstGeom>
          <a:solidFill>
            <a:srgbClr val="142A5A"/>
          </a:solidFill>
          <a:ln>
            <a:solidFill>
              <a:srgbClr val="142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355080" y="1389888"/>
            <a:ext cx="519379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D166"/>
                </a:solidFill>
              </a:rPr>
              <a:t>Near-Perfect Recall@5 = 0.98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55080" y="1801368"/>
            <a:ext cx="5193792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100">
                <a:solidFill>
                  <a:srgbClr val="D0D8E8"/>
                </a:solidFill>
              </a:rPr>
              <a:t>▸ 9 of 10 queries achieve perfect Recall@5 = 1.00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D0D8E8"/>
                </a:solidFill>
              </a:rPr>
              <a:t>▸ Only Q2 falls short (0.80) — course uses 'calculus' not 'math' (lexical gap)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D0D8E8"/>
                </a:solidFill>
              </a:rPr>
              <a:t>▸ Main driver for Future Work F1: dense embedding integration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4005072"/>
            <a:ext cx="5559552" cy="2487168"/>
          </a:xfrm>
          <a:prstGeom prst="rect">
            <a:avLst/>
          </a:prstGeom>
          <a:solidFill>
            <a:srgbClr val="142A5A"/>
          </a:solidFill>
          <a:ln>
            <a:solidFill>
              <a:srgbClr val="142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4096511"/>
            <a:ext cx="519379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6D6A0"/>
                </a:solidFill>
              </a:rPr>
              <a:t>Abbreviation Expansion is Non-Cosmetic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4507992"/>
            <a:ext cx="5193792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100">
                <a:solidFill>
                  <a:srgbClr val="D0D8E8"/>
                </a:solidFill>
              </a:rPr>
              <a:t>▸ Without Stage 2: 'ml for beginners' → zero results (token 'ml' not in vocabulary)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D0D8E8"/>
                </a:solidFill>
              </a:rPr>
              <a:t>▸ Stage 2 expands ml → 'machine learning' before vectorisation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D0D8E8"/>
                </a:solidFill>
              </a:rPr>
              <a:t>▸ Essential for real learner abbreviated query behaviour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72200" y="4005072"/>
            <a:ext cx="5559552" cy="2487168"/>
          </a:xfrm>
          <a:prstGeom prst="rect">
            <a:avLst/>
          </a:prstGeom>
          <a:solidFill>
            <a:srgbClr val="142A5A"/>
          </a:solidFill>
          <a:ln>
            <a:solidFill>
              <a:srgbClr val="142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55080" y="4096511"/>
            <a:ext cx="519379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696D"/>
                </a:solidFill>
              </a:rPr>
              <a:t>Engagement Boost Ablation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55080" y="4507992"/>
            <a:ext cx="5193792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100">
                <a:solidFill>
                  <a:srgbClr val="D0D8E8"/>
                </a:solidFill>
              </a:rPr>
              <a:t>▸ Disabling engagement boost: no statistically significant change in P@5, R@5, F1@5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D0D8E8"/>
                </a:solidFill>
              </a:rPr>
              <a:t>▸ Expected — boost refines ranking among equally relevant results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D0D8E8"/>
                </a:solidFill>
              </a:rPr>
              <a:t>▸ Value is longitudinal: surfaces learner-validated courses over repeated sessions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1078992"/>
            <a:ext cx="11274552" cy="5029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11274552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0B4D8"/>
                </a:solidFill>
              </a:rPr>
              <a:t>Limitations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112745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90E0EF"/>
                </a:solidFill>
              </a:rPr>
              <a:t>Honest assessment of current boundaries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98448"/>
            <a:ext cx="11274552" cy="914400"/>
          </a:xfrm>
          <a:prstGeom prst="rect">
            <a:avLst/>
          </a:prstGeom>
          <a:solidFill>
            <a:srgbClr val="142A5A"/>
          </a:solidFill>
          <a:ln>
            <a:solidFill>
              <a:srgbClr val="142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389888"/>
            <a:ext cx="3200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696D"/>
                </a:solidFill>
              </a:rPr>
              <a:t>⚠ Lexical Gap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931920" y="1417319"/>
            <a:ext cx="75895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D0D8E8"/>
                </a:solidFill>
              </a:rPr>
              <a:t>TF-IDF cannot equate surface-dissimilar synonyms (calculus ≠ math). Dense embeddings (F1) needed.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2304288"/>
            <a:ext cx="11274552" cy="914400"/>
          </a:xfrm>
          <a:prstGeom prst="rect">
            <a:avLst/>
          </a:prstGeom>
          <a:solidFill>
            <a:srgbClr val="142A5A"/>
          </a:solidFill>
          <a:ln>
            <a:solidFill>
              <a:srgbClr val="142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2395728"/>
            <a:ext cx="3200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D166"/>
                </a:solidFill>
              </a:rPr>
              <a:t>⚠ Small Ground Truth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931920" y="2423160"/>
            <a:ext cx="75895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D0D8E8"/>
                </a:solidFill>
              </a:rPr>
              <a:t>10 hand-crafted queries cannot represent the full distribution of real learner intent. Larger crowd-sourced set required.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3310128"/>
            <a:ext cx="11274552" cy="914400"/>
          </a:xfrm>
          <a:prstGeom prst="rect">
            <a:avLst/>
          </a:prstGeom>
          <a:solidFill>
            <a:srgbClr val="142A5A"/>
          </a:solidFill>
          <a:ln>
            <a:solidFill>
              <a:srgbClr val="142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3401568"/>
            <a:ext cx="3200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B4D8"/>
                </a:solidFill>
              </a:rPr>
              <a:t>⚠ New-Course Cold Start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31920" y="3429000"/>
            <a:ext cx="75895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D0D8E8"/>
                </a:solidFill>
              </a:rPr>
              <a:t>Courses newly added to corpus carry boost=0 and may underperform against legacy well-clicked alternatives.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4315968"/>
            <a:ext cx="11274552" cy="914400"/>
          </a:xfrm>
          <a:prstGeom prst="rect">
            <a:avLst/>
          </a:prstGeom>
          <a:solidFill>
            <a:srgbClr val="142A5A"/>
          </a:solidFill>
          <a:ln>
            <a:solidFill>
              <a:srgbClr val="142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4407408"/>
            <a:ext cx="3200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6D6A0"/>
                </a:solidFill>
              </a:rPr>
              <a:t>⚠ Corpus Freshness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931920" y="4434840"/>
            <a:ext cx="75895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D0D8E8"/>
                </a:solidFill>
              </a:rPr>
              <a:t>Live search fills query-time gaps, but the TF-IDF model itself is not retrained — cached live results may lag days behind new courses.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5321808"/>
            <a:ext cx="11274552" cy="914400"/>
          </a:xfrm>
          <a:prstGeom prst="rect">
            <a:avLst/>
          </a:prstGeom>
          <a:solidFill>
            <a:srgbClr val="142A5A"/>
          </a:solidFill>
          <a:ln>
            <a:solidFill>
              <a:srgbClr val="142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5413248"/>
            <a:ext cx="3200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696D"/>
                </a:solidFill>
              </a:rPr>
              <a:t>⚠ English-Only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931920" y="5440680"/>
            <a:ext cx="75895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D0D8E8"/>
                </a:solidFill>
              </a:rPr>
              <a:t>Preprocessing, stopword list, spell-corrector, and vocabulary are English-exclusive. Multilingual support is future work (F5).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1078992"/>
            <a:ext cx="11274552" cy="5029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11274552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0B4D8"/>
                </a:solidFill>
              </a:rPr>
              <a:t>Conclusion &amp; Future Work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98448"/>
            <a:ext cx="5394960" cy="5120640"/>
          </a:xfrm>
          <a:prstGeom prst="rect">
            <a:avLst/>
          </a:prstGeom>
          <a:solidFill>
            <a:srgbClr val="142A5A"/>
          </a:solidFill>
          <a:ln>
            <a:solidFill>
              <a:srgbClr val="142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89888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0B4D8"/>
                </a:solidFill>
              </a:rPr>
              <a:t>Conclusion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810512"/>
            <a:ext cx="50292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200">
                <a:solidFill>
                  <a:srgbClr val="D0D8E8"/>
                </a:solidFill>
              </a:rPr>
              <a:t>▸ NLPRec: end-to-end intelligent course recommendation understanding query intent, not keyword counts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D0D8E8"/>
                </a:solidFill>
              </a:rPr>
              <a:t>▸ 7-stage NLP pipeline · sublinear TF-IDF bigrams · 9-step query engine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D0D8E8"/>
                </a:solidFill>
              </a:rPr>
              <a:t>▸ Log-dampened engagement boost · recency-weighted user profiling · live search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D0D8E8"/>
                </a:solidFill>
              </a:rPr>
              <a:t>▸ K=5 evaluation: P@5 +71.4% · R@5 +71.9% · F1@5 +70.8% over keyword baseline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D0D8E8"/>
                </a:solidFill>
              </a:rPr>
              <a:t>▸ Recall@5 = 0.98 → learners find the right course on first attempt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D0D8E8"/>
                </a:solidFill>
              </a:rPr>
              <a:t>▸ Open-source Streamlit app — reproducible reference implementation for EdTech</a:t>
            </a:r>
          </a:p>
        </p:txBody>
      </p:sp>
      <p:sp>
        <p:nvSpPr>
          <p:cNvPr id="7" name="Rectangle 6"/>
          <p:cNvSpPr/>
          <p:nvPr/>
        </p:nvSpPr>
        <p:spPr>
          <a:xfrm>
            <a:off x="6080760" y="1298448"/>
            <a:ext cx="5650992" cy="5120640"/>
          </a:xfrm>
          <a:prstGeom prst="rect">
            <a:avLst/>
          </a:prstGeom>
          <a:solidFill>
            <a:srgbClr val="142A5A"/>
          </a:solidFill>
          <a:ln>
            <a:solidFill>
              <a:srgbClr val="142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263640" y="1389888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D166"/>
                </a:solidFill>
              </a:rPr>
              <a:t>Future Work Roadmap</a:t>
            </a:r>
          </a:p>
        </p:txBody>
      </p:sp>
      <p:sp>
        <p:nvSpPr>
          <p:cNvPr id="9" name="Rectangle 8"/>
          <p:cNvSpPr/>
          <p:nvPr/>
        </p:nvSpPr>
        <p:spPr>
          <a:xfrm>
            <a:off x="6263640" y="1828800"/>
            <a:ext cx="5303520" cy="521207"/>
          </a:xfrm>
          <a:prstGeom prst="rect">
            <a:avLst/>
          </a:prstGeom>
          <a:solidFill>
            <a:srgbClr val="0D1B3E"/>
          </a:solidFill>
          <a:ln>
            <a:solidFill>
              <a:srgbClr val="0D1B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27648" y="1920240"/>
            <a:ext cx="457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B4D8"/>
                </a:solidFill>
              </a:rPr>
              <a:t>F1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39712" y="1874519"/>
            <a:ext cx="2103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Dense Embeddings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39712" y="2121408"/>
            <a:ext cx="36576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D0D8E8"/>
                </a:solidFill>
              </a:rPr>
              <a:t>Sentence-BERT / E5 to bridge lexical gap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63640" y="2395728"/>
            <a:ext cx="5303520" cy="521207"/>
          </a:xfrm>
          <a:prstGeom prst="rect">
            <a:avLst/>
          </a:prstGeom>
          <a:solidFill>
            <a:srgbClr val="0D1B3E"/>
          </a:solidFill>
          <a:ln>
            <a:solidFill>
              <a:srgbClr val="0D1B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27648" y="2487168"/>
            <a:ext cx="457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D166"/>
                </a:solidFill>
              </a:rPr>
              <a:t>F2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39712" y="2441448"/>
            <a:ext cx="2103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Hybrid Neural-TF-IDF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39712" y="2688336"/>
            <a:ext cx="36576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D0D8E8"/>
                </a:solidFill>
              </a:rPr>
              <a:t>Late fusion of sparse + dense for precision + recall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63640" y="2962656"/>
            <a:ext cx="5303520" cy="521207"/>
          </a:xfrm>
          <a:prstGeom prst="rect">
            <a:avLst/>
          </a:prstGeom>
          <a:solidFill>
            <a:srgbClr val="0D1B3E"/>
          </a:solidFill>
          <a:ln>
            <a:solidFill>
              <a:srgbClr val="0D1B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27648" y="3054096"/>
            <a:ext cx="457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6D6A0"/>
                </a:solidFill>
              </a:rPr>
              <a:t>F3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39712" y="3008376"/>
            <a:ext cx="2103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Learning Path Generation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39712" y="3255264"/>
            <a:ext cx="36576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D0D8E8"/>
                </a:solidFill>
              </a:rPr>
              <a:t>Sequential path planning with prerequisite modelling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263640" y="3529584"/>
            <a:ext cx="5303520" cy="521207"/>
          </a:xfrm>
          <a:prstGeom prst="rect">
            <a:avLst/>
          </a:prstGeom>
          <a:solidFill>
            <a:srgbClr val="0D1B3E"/>
          </a:solidFill>
          <a:ln>
            <a:solidFill>
              <a:srgbClr val="0D1B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27648" y="3621024"/>
            <a:ext cx="457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B4D8"/>
                </a:solidFill>
              </a:rPr>
              <a:t>F4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39712" y="3575303"/>
            <a:ext cx="2103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Temporal Signals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39712" y="3822191"/>
            <a:ext cx="36576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D0D8E8"/>
                </a:solidFill>
              </a:rPr>
              <a:t>Recency-weighted ranking to reduce stale content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263640" y="4096512"/>
            <a:ext cx="5303520" cy="521207"/>
          </a:xfrm>
          <a:prstGeom prst="rect">
            <a:avLst/>
          </a:prstGeom>
          <a:solidFill>
            <a:srgbClr val="0D1B3E"/>
          </a:solidFill>
          <a:ln>
            <a:solidFill>
              <a:srgbClr val="0D1B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27648" y="4187952"/>
            <a:ext cx="457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D166"/>
                </a:solidFill>
              </a:rPr>
              <a:t>F5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39712" y="4142232"/>
            <a:ext cx="2103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Multilingual Support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39712" y="4389120"/>
            <a:ext cx="36576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D0D8E8"/>
                </a:solidFill>
              </a:rPr>
              <a:t>mBERT / XLM-R for non-English queries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263640" y="4663440"/>
            <a:ext cx="5303520" cy="521207"/>
          </a:xfrm>
          <a:prstGeom prst="rect">
            <a:avLst/>
          </a:prstGeom>
          <a:solidFill>
            <a:srgbClr val="0D1B3E"/>
          </a:solidFill>
          <a:ln>
            <a:solidFill>
              <a:srgbClr val="0D1B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327648" y="4754879"/>
            <a:ext cx="457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6D6A0"/>
                </a:solidFill>
              </a:rPr>
              <a:t>F6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839712" y="4709159"/>
            <a:ext cx="2103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Large-Scale A/B Study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39712" y="4956048"/>
            <a:ext cx="36576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D0D8E8"/>
                </a:solidFill>
              </a:rPr>
              <a:t>Real learners · task completion · retention · satisfaction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263640" y="5230368"/>
            <a:ext cx="5303520" cy="521207"/>
          </a:xfrm>
          <a:prstGeom prst="rect">
            <a:avLst/>
          </a:prstGeom>
          <a:solidFill>
            <a:srgbClr val="0D1B3E"/>
          </a:solidFill>
          <a:ln>
            <a:solidFill>
              <a:srgbClr val="0D1B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327648" y="5321807"/>
            <a:ext cx="457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B4D8"/>
                </a:solidFill>
              </a:rPr>
              <a:t>F7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839712" y="5276088"/>
            <a:ext cx="2103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CF Integration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839712" y="5522976"/>
            <a:ext cx="36576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D0D8E8"/>
                </a:solidFill>
              </a:rPr>
              <a:t>Hybrid recommender for users with sufficient history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263640" y="5797296"/>
            <a:ext cx="5303520" cy="521207"/>
          </a:xfrm>
          <a:prstGeom prst="rect">
            <a:avLst/>
          </a:prstGeom>
          <a:solidFill>
            <a:srgbClr val="0D1B3E"/>
          </a:solidFill>
          <a:ln>
            <a:solidFill>
              <a:srgbClr val="0D1B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327648" y="5888736"/>
            <a:ext cx="457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D166"/>
                </a:solidFill>
              </a:rPr>
              <a:t>F8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839712" y="5843016"/>
            <a:ext cx="2103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NDCG &amp; MRR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839712" y="6089904"/>
            <a:ext cx="36576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D0D8E8"/>
                </a:solidFill>
              </a:rPr>
              <a:t>Rank-sensitive metrics for position-aware evaluation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154680"/>
            <a:ext cx="12188952" cy="7315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48640"/>
            <a:ext cx="10908792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800" b="1" i="0">
                <a:solidFill>
                  <a:srgbClr val="00B4D8"/>
                </a:solidFill>
              </a:rPr>
              <a:t>Thank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00200"/>
            <a:ext cx="1090879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0">
                <a:solidFill>
                  <a:srgbClr val="FFFFFF"/>
                </a:solidFill>
              </a:rPr>
              <a:t>Questions &amp; Discussion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377440"/>
            <a:ext cx="1090879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1">
                <a:solidFill>
                  <a:srgbClr val="90E0EF"/>
                </a:solidFill>
              </a:rPr>
              <a:t>NLPRec — Open-Source Intelligent Course Recommendation System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401568"/>
            <a:ext cx="1090879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6D6A0"/>
                </a:solidFill>
              </a:rPr>
              <a:t>P@5 = 0.72   ·   R@5 = 0.98   ·   F1@5 = 0.82   ·   Avg Δ &gt; 71% over keyword baseline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4069080"/>
            <a:ext cx="1090879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D0D8E8"/>
                </a:solidFill>
              </a:rPr>
              <a:t>Built with: Python · scikit-learn · NLTK · Streamlit · DuckDuckGo Search · pyspellchecker · matplotlib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4572000"/>
            <a:ext cx="1090879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D0D8E8"/>
                </a:solidFill>
              </a:rPr>
              <a:t>Data sources: Coursera API  ·  edX Discovery API  ·  MIT OpenCourseWare Sitemap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6217920"/>
            <a:ext cx="1090879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90E0EF"/>
                </a:solidFill>
              </a:rPr>
              <a:t>Department of Computer Science and Engineering  |  March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